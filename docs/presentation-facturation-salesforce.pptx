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le projet comme un espace Salesforce unique qui couvre les ventes avec devis, la facture directe et la correction comptable par avoir. Durée cible de la présentation : 10 à 12 minutes, démonstration comprise.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immédiatement les quatre preuves de valeur : trois parcours, avoirs, automatisation quotidienne et qualité technique. Préciser que 26 méthodes de test ont réussi, soit 28 exécutions Salesforce avec les méthodes de préparation.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 fait que certains clients ne créent jamais de devis. Le modèle doit couvrir les deux pratiques sans créer deux systèmes parallèles.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structurant est de conserver les devis standards Salesforce et d’utiliser un objet de facture dédié pour l’immuabilité, les snapshots client et la numérotation.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chemins convergent sur le même cycle. La correction repart ensuite de la facture émise vers un avoir : jamais de modification silencieuse du document d’origine.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maquette reprend l’organisation réelle du composant. Pendant la démo, montrer la création d’une facture directe et constater que la nouvelle ligne apparaît sans actualiser la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Expliquer l’exemple calendrier : le 1er juillet, le système facture le mois de juin puis positionne la prochaine date au 1er août. Le batch quotidien ne recrée pas la même échéance.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message clé : une facture émise ne se corrige pas directement. L’avoir conserve le lien, le motif, sa propre séquence et son propre PDF. Un verrou sur la facture d’origine empêche le sur-crédit concurrent.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PDF est généré côté serveur, attaché à la facture et versionné. L’avoir affiche en plus la facture d’origine, le motif et le montant porté au crédit du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Être transparent : la préparation, le routage et la traçabilité existent. L’envoi externe reste volontairement désactivé tant que le raccordement PISTE et la conformité ne sont pas certifiés. Un PDF ordinaire ne suffit pas à constituer une facture électronique conforme.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séparation expérience, façade, services et données permet de faire évoluer le LWC ou le connecteur externe sans réécrire les calculs. Toutes les classes respectent le partage Salesforce.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couverture de 83 % concerne le périmètre de classes du projet exécuté par cette suite. La couverture globale de l’organisation contient d’autres développements historiques et ne doit pas être confondue avec cette mesure.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GitHub est la source de vérité. Le workflow valide les métadonnées et les tests avant toute écriture ; le mot DEPLOY et la protection d’environnement apportent une approbation explicite.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Préparer une opportunité avec deux produits, une entité juridique complète et les séquences de l’année. Le parcours doit rester court et visible : création, émission, PDF, avoir puis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Conclure sur un socle utilisable immédiatement. Ne pas présenter l’envoi électronique comme certifié ; c’est le principal chantier externe restant.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Garder ouvertes la page Opportunité, une facture émise et la page GitHub Actions pour répondre aux questions avec des preuves concrètes.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Nounem/Facturation" TargetMode="Externa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Nounem/Facturation" TargetMode="Externa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D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0" y="-274320"/>
            <a:ext cx="3657600" cy="1828800"/>
          </a:xfrm>
          <a:prstGeom prst="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75520" y="5303520"/>
            <a:ext cx="2834640" cy="1828800"/>
          </a:xfrm>
          <a:prstGeom prst="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658368"/>
            <a:ext cx="2423160" cy="347472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99516"/>
            <a:ext cx="2368296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APPLICATION NATIVE SALESFORCE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25880"/>
            <a:ext cx="7132320" cy="1554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Aptos"/>
              </a:rPr>
              <a:t>Facturation
Salesforce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27248"/>
            <a:ext cx="658368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Aptos"/>
              </a:rPr>
              <a:t>Du devis à la facture électronique, avec facture directe,
récurrence, avoirs et PDF personnalisable.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57800"/>
            <a:ext cx="5029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AF5FE"/>
                </a:solidFill>
                <a:latin typeface="Aptos"/>
              </a:rPr>
              <a:t>Démonstration fonctionnelle &amp;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50992"/>
            <a:ext cx="18288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AF5FE"/>
                </a:solidFill>
                <a:latin typeface="Aptos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VUE D’ENSEMBLE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Un socle complet, sans quitter Salesforce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2560320" cy="1170432"/>
          </a:xfrm>
          <a:prstGeom prst="roundRect">
            <a:avLst/>
          </a:prstGeom>
          <a:solidFill>
            <a:srgbClr val="EA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01368"/>
            <a:ext cx="2231136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B5CAB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59152"/>
            <a:ext cx="223113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673"/>
                </a:solidFill>
                <a:latin typeface="Aptos"/>
              </a:rPr>
              <a:t>PARCOURS DE CRÉATION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45920"/>
            <a:ext cx="2560320" cy="1170432"/>
          </a:xfrm>
          <a:prstGeom prst="roundRect">
            <a:avLst/>
          </a:prstGeom>
          <a:solidFill>
            <a:srgbClr val="F3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1801368"/>
            <a:ext cx="2231136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6F4EB5"/>
                </a:solidFill>
                <a:latin typeface="Aptos"/>
              </a:rPr>
              <a:t>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359152"/>
            <a:ext cx="223113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673"/>
                </a:solidFill>
                <a:latin typeface="Aptos"/>
              </a:rPr>
              <a:t>AVOIRS COMPLETS &amp; PARTIELS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2560320" cy="1170432"/>
          </a:xfrm>
          <a:prstGeom prst="round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801368"/>
            <a:ext cx="2231136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B85D00"/>
                </a:solidFill>
                <a:latin typeface="Aptos"/>
              </a:rPr>
              <a:t>02:00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2359152"/>
            <a:ext cx="223113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673"/>
                </a:solidFill>
                <a:latin typeface="Aptos"/>
              </a:rPr>
              <a:t>FACTURATION QUOTIDIENNE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645920"/>
            <a:ext cx="2560320" cy="1170432"/>
          </a:xfrm>
          <a:prstGeom prst="roundRect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801368"/>
            <a:ext cx="2231136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E844A"/>
                </a:solidFill>
                <a:latin typeface="Aptos"/>
              </a:rPr>
              <a:t>83 %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359152"/>
            <a:ext cx="223113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673"/>
                </a:solidFill>
                <a:latin typeface="Aptos"/>
              </a:rPr>
              <a:t>COUVERTURE DU PROJET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24612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246120"/>
            <a:ext cx="73152" cy="2240280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410712"/>
            <a:ext cx="304495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Expérience fluide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3803904"/>
            <a:ext cx="3044952" cy="154533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Création, recherche et actions contextualisées avec rafraîchissement immédiat et messages d’erreur exploitables.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24612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0832" y="3246120"/>
            <a:ext cx="73152" cy="2240280"/>
          </a:xfrm>
          <a:prstGeom prst="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3410712"/>
            <a:ext cx="304495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Documents maîtrisés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3803904"/>
            <a:ext cx="3044952" cy="154533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Numérotation à l’émission, verrouillage, PDF versionné, logo et identité visuelle par entité juridique.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24612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18120" y="3246120"/>
            <a:ext cx="73152" cy="2240280"/>
          </a:xfrm>
          <a:prstGeom prst="rect">
            <a:avLst/>
          </a:prstGeom>
          <a:solidFill>
            <a:srgbClr val="B85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6" y="3410712"/>
            <a:ext cx="304495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Prêt à évoluer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37576" y="3803904"/>
            <a:ext cx="3044952" cy="154533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Règles inspirées de Revenue Cloud et préparation des flux Chorus Pro / Plateforme Agréée.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POURQUOI CE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Le problème métier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72768"/>
            <a:ext cx="5486400" cy="8229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32D60"/>
                </a:solidFill>
                <a:latin typeface="Aptos"/>
              </a:rPr>
              <a:t>Les équipes perdent du temps lorsque la vente et la facturation vivent dans des outils séparés.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78608"/>
            <a:ext cx="5303520" cy="2926080"/>
          </a:xfrm>
          <a:prstGeom prst="rect">
            <a:avLst/>
          </a:prstGeom>
          <a:noFill/>
        </p:spPr>
        <p:txBody>
          <a:bodyPr wrap="square" lIns="45720" rIns="27432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Ressaisies de prix, TVA et adresses client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Parcours avec ou sans devis difficiles à unifier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Récurrence fragile et risque de doublons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Corrections comptables non traçables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PDF et e-facture soumis à des règles légales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645920"/>
            <a:ext cx="4983480" cy="4251960"/>
          </a:xfrm>
          <a:prstGeom prst="roundRect">
            <a:avLst/>
          </a:prstGeom>
          <a:solidFill>
            <a:srgbClr val="03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9712" y="2057400"/>
            <a:ext cx="14630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B96FF"/>
                </a:solidFill>
                <a:latin typeface="Aptos"/>
              </a:rPr>
              <a:t>OBJECTIF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606040"/>
            <a:ext cx="4114800" cy="10972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Aptos"/>
              </a:rPr>
              <a:t>Un parcours simple
pour l’utilisateur,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3931920"/>
            <a:ext cx="3977639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EAF5FE"/>
                </a:solidFill>
                <a:latin typeface="Aptos"/>
              </a:rPr>
              <a:t>contrôlé pour la comptabilité
et évolutif pour l’entreprise.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LA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Une réponse native et configurable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29000" cy="1664208"/>
          </a:xfrm>
          <a:prstGeom prst="roundRect">
            <a:avLst/>
          </a:prstGeom>
          <a:solidFill>
            <a:srgbClr val="EA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856232"/>
            <a:ext cx="438912" cy="438912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38528"/>
            <a:ext cx="438912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1847088"/>
            <a:ext cx="22860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Devis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2304288"/>
            <a:ext cx="233172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Quote standard Salesforce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00200"/>
            <a:ext cx="3429000" cy="1664208"/>
          </a:xfrm>
          <a:prstGeom prst="roundRect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45736" y="1856232"/>
            <a:ext cx="438912" cy="438912"/>
          </a:xfrm>
          <a:prstGeom prst="ellipse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5736" y="1938528"/>
            <a:ext cx="438912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0952" y="1847088"/>
            <a:ext cx="22860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Facture directe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2304288"/>
            <a:ext cx="233172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Sans devis obligatoire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600200"/>
            <a:ext cx="3429000" cy="1664208"/>
          </a:xfrm>
          <a:prstGeom prst="round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0496" y="1856232"/>
            <a:ext cx="438912" cy="438912"/>
          </a:xfrm>
          <a:prstGeom prst="ellipse">
            <a:avLst/>
          </a:prstGeom>
          <a:solidFill>
            <a:srgbClr val="B85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1938528"/>
            <a:ext cx="438912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1847088"/>
            <a:ext cx="22860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Récurrence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304288"/>
            <a:ext cx="233172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Règles et périodes configurables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657600"/>
            <a:ext cx="3429000" cy="1664208"/>
          </a:xfrm>
          <a:prstGeom prst="roundRect">
            <a:avLst/>
          </a:prstGeom>
          <a:solidFill>
            <a:srgbClr val="F3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50976" y="3913632"/>
            <a:ext cx="438912" cy="438912"/>
          </a:xfrm>
          <a:prstGeom prst="ellipse">
            <a:avLst/>
          </a:prstGeom>
          <a:solidFill>
            <a:srgbClr val="6F4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3995928"/>
            <a:ext cx="438912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3904487"/>
            <a:ext cx="22860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Avoir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361688"/>
            <a:ext cx="233172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Complet ou partiel, document dédié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657600"/>
            <a:ext cx="3429000" cy="1664208"/>
          </a:xfrm>
          <a:prstGeom prst="roundRect">
            <a:avLst/>
          </a:prstGeom>
          <a:solidFill>
            <a:srgbClr val="EA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745736" y="3913632"/>
            <a:ext cx="438912" cy="438912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45736" y="3995928"/>
            <a:ext cx="438912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0952" y="3904487"/>
            <a:ext cx="22860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PDF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0952" y="4361688"/>
            <a:ext cx="233172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Logo, couleur, mentions, versions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657600"/>
            <a:ext cx="3429000" cy="1664208"/>
          </a:xfrm>
          <a:prstGeom prst="roundRect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40496" y="3913632"/>
            <a:ext cx="438912" cy="438912"/>
          </a:xfrm>
          <a:prstGeom prst="ellipse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95928"/>
            <a:ext cx="438912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5712" y="3904487"/>
            <a:ext cx="22860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E-facture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4361688"/>
            <a:ext cx="233172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Préparation et traçabilité du flux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PARCOURS 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Trois chemins, un même cycle comptable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743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82296" cy="822960"/>
          </a:xfrm>
          <a:prstGeom prst="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682495"/>
            <a:ext cx="21488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32D60"/>
                </a:solidFill>
                <a:latin typeface="Aptos"/>
              </a:rPr>
              <a:t>Devis accepté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011680"/>
            <a:ext cx="21488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Quote</a:t>
            </a:r>
          </a:p>
        </p:txBody>
      </p:sp>
      <p:sp>
        <p:nvSpPr>
          <p:cNvPr id="10" name="Chevron 9"/>
          <p:cNvSpPr/>
          <p:nvPr/>
        </p:nvSpPr>
        <p:spPr>
          <a:xfrm>
            <a:off x="3703320" y="1773936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2743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788920"/>
            <a:ext cx="82296" cy="822960"/>
          </a:xfrm>
          <a:prstGeom prst="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916936"/>
            <a:ext cx="21488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32D60"/>
                </a:solidFill>
                <a:latin typeface="Aptos"/>
              </a:rPr>
              <a:t>Facture directe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246120"/>
            <a:ext cx="21488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Produits opportunité</a:t>
            </a:r>
          </a:p>
        </p:txBody>
      </p:sp>
      <p:sp>
        <p:nvSpPr>
          <p:cNvPr id="15" name="Chevron 14"/>
          <p:cNvSpPr/>
          <p:nvPr/>
        </p:nvSpPr>
        <p:spPr>
          <a:xfrm>
            <a:off x="3703320" y="3008376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2743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23360"/>
            <a:ext cx="82296" cy="822960"/>
          </a:xfrm>
          <a:prstGeom prst="rect">
            <a:avLst/>
          </a:prstGeom>
          <a:solidFill>
            <a:srgbClr val="B85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151376"/>
            <a:ext cx="21488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32D60"/>
                </a:solidFill>
                <a:latin typeface="Aptos"/>
              </a:rPr>
              <a:t>Facture planifiée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480560"/>
            <a:ext cx="21488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Règle + prochaine date</a:t>
            </a:r>
          </a:p>
        </p:txBody>
      </p:sp>
      <p:sp>
        <p:nvSpPr>
          <p:cNvPr id="20" name="Chevron 19"/>
          <p:cNvSpPr/>
          <p:nvPr/>
        </p:nvSpPr>
        <p:spPr>
          <a:xfrm>
            <a:off x="3703320" y="4242816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07408" y="2423160"/>
            <a:ext cx="2331720" cy="1143000"/>
          </a:xfrm>
          <a:prstGeom prst="roundRect">
            <a:avLst/>
          </a:prstGeom>
          <a:solidFill>
            <a:srgbClr val="03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2660904"/>
            <a:ext cx="1783080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ptos"/>
              </a:rPr>
              <a:t>FACTURE
BROUILLON</a:t>
            </a:r>
          </a:p>
        </p:txBody>
      </p:sp>
      <p:sp>
        <p:nvSpPr>
          <p:cNvPr id="23" name="Chevron 22"/>
          <p:cNvSpPr/>
          <p:nvPr/>
        </p:nvSpPr>
        <p:spPr>
          <a:xfrm>
            <a:off x="6967728" y="2788920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71231" y="2423160"/>
            <a:ext cx="1600200" cy="1143000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2816352"/>
            <a:ext cx="120700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ÉMISSION</a:t>
            </a:r>
          </a:p>
        </p:txBody>
      </p:sp>
      <p:sp>
        <p:nvSpPr>
          <p:cNvPr id="26" name="Chevron 25"/>
          <p:cNvSpPr/>
          <p:nvPr/>
        </p:nvSpPr>
        <p:spPr>
          <a:xfrm>
            <a:off x="9345168" y="2788920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48672" y="2423160"/>
            <a:ext cx="1508760" cy="1143000"/>
          </a:xfrm>
          <a:prstGeom prst="round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0" y="2816352"/>
            <a:ext cx="914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07408" y="4736592"/>
            <a:ext cx="7040880" cy="822960"/>
          </a:xfrm>
          <a:prstGeom prst="roundRect">
            <a:avLst/>
          </a:prstGeom>
          <a:solidFill>
            <a:srgbClr val="F3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1728" y="5010912"/>
            <a:ext cx="6492240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400" b="1">
                <a:solidFill>
                  <a:srgbClr val="6F4EB5"/>
                </a:solidFill>
                <a:latin typeface="Aptos"/>
              </a:rPr>
              <a:t>Facture émise  </a:t>
            </a:r>
            <a:r>
              <a:rPr sz="1400" b="0">
                <a:solidFill>
                  <a:srgbClr val="17202E"/>
                </a:solidFill>
                <a:latin typeface="Aptos"/>
              </a:rPr>
              <a:t>→  Avoir brouillon  →  Émission AV  →  PDF d’avoir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LIGHTNING WEB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Une expérience intégrée à l’opportunité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7589520" cy="44805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7589520" cy="822960"/>
          </a:xfrm>
          <a:prstGeom prst="rect">
            <a:avLst/>
          </a:prstGeom>
          <a:solidFill>
            <a:srgbClr val="03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64792"/>
            <a:ext cx="3383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ptos"/>
              </a:rPr>
              <a:t>Devis, factures &amp; avoirs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1737360"/>
            <a:ext cx="1097280" cy="347472"/>
          </a:xfrm>
          <a:prstGeom prst="round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778507"/>
            <a:ext cx="1042415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Facture directe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4848" y="1737360"/>
            <a:ext cx="1078992" cy="347472"/>
          </a:xfrm>
          <a:prstGeom prst="round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778507"/>
            <a:ext cx="1024127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Nouveau devis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2578608"/>
            <a:ext cx="1481328" cy="841248"/>
          </a:xfrm>
          <a:prstGeom prst="roundRect">
            <a:avLst/>
          </a:prstGeom>
          <a:solidFill>
            <a:srgbClr val="EA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2724912"/>
            <a:ext cx="122529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3063240"/>
            <a:ext cx="1225296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673"/>
                </a:solidFill>
                <a:latin typeface="Aptos"/>
              </a:rPr>
              <a:t>Devis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70048" y="2578608"/>
            <a:ext cx="1481328" cy="841248"/>
          </a:xfrm>
          <a:prstGeom prst="roundRect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8064" y="2724912"/>
            <a:ext cx="122529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3063240"/>
            <a:ext cx="1225296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673"/>
                </a:solidFill>
                <a:latin typeface="Aptos"/>
              </a:rPr>
              <a:t>Acceptés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07408" y="2578608"/>
            <a:ext cx="1481328" cy="841248"/>
          </a:xfrm>
          <a:prstGeom prst="roundRect">
            <a:avLst/>
          </a:prstGeom>
          <a:solidFill>
            <a:srgbClr val="F3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724912"/>
            <a:ext cx="122529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3063240"/>
            <a:ext cx="1225296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673"/>
                </a:solidFill>
                <a:latin typeface="Aptos"/>
              </a:rPr>
              <a:t>Factures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7" y="2578608"/>
            <a:ext cx="1481328" cy="841248"/>
          </a:xfrm>
          <a:prstGeom prst="round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2783" y="2724912"/>
            <a:ext cx="122529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32D60"/>
                </a:solidFill>
                <a:latin typeface="Aptos"/>
              </a:rPr>
              <a:t>8 640 €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063240"/>
            <a:ext cx="1225296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673"/>
                </a:solidFill>
                <a:latin typeface="Aptos"/>
              </a:rPr>
              <a:t>Solde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3703320"/>
            <a:ext cx="2286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B5CAB"/>
                </a:solidFill>
                <a:latin typeface="Aptos"/>
              </a:rPr>
              <a:t>FACTURES &amp; AVOIRS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3995928"/>
            <a:ext cx="719632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4078224"/>
            <a:ext cx="18288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FAC-2026-00012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9232" y="4078224"/>
            <a:ext cx="1965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Émise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3792" y="4078224"/>
            <a:ext cx="10515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17202E"/>
                </a:solidFill>
                <a:latin typeface="Aptos"/>
              </a:rPr>
              <a:t>2 400 €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5392" y="4032504"/>
            <a:ext cx="960120" cy="347472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92824" y="4073652"/>
            <a:ext cx="905256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4599432"/>
            <a:ext cx="18288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AV-2026-00003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9232" y="4599432"/>
            <a:ext cx="1965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Partiellement créditée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3792" y="4599432"/>
            <a:ext cx="10515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17202E"/>
                </a:solidFill>
                <a:latin typeface="Aptos"/>
              </a:rPr>
              <a:t>480 €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5392" y="4553712"/>
            <a:ext cx="960120" cy="347472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4594860"/>
            <a:ext cx="905256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Ouvrir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5038344"/>
            <a:ext cx="719632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5120640"/>
            <a:ext cx="18288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FAC-2026-00011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99232" y="5120640"/>
            <a:ext cx="1965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Payée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93792" y="5120640"/>
            <a:ext cx="10515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17202E"/>
                </a:solidFill>
                <a:latin typeface="Aptos"/>
              </a:rPr>
              <a:t>5 760 €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65392" y="5074920"/>
            <a:ext cx="960120" cy="347472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92824" y="5116068"/>
            <a:ext cx="905256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41080" y="1572768"/>
            <a:ext cx="2743200" cy="1143000"/>
          </a:xfrm>
          <a:prstGeom prst="roundRect">
            <a:avLst/>
          </a:prstGeom>
          <a:solidFill>
            <a:srgbClr val="EAF5FE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641080" y="1572768"/>
            <a:ext cx="73152" cy="1143000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60536" y="1737360"/>
            <a:ext cx="235915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Sans rechargement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0536" y="2130552"/>
            <a:ext cx="235915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Les listes et compteurs se mettent à jour après chaque action.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41080" y="297180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41080" y="2971800"/>
            <a:ext cx="73152" cy="1143000"/>
          </a:xfrm>
          <a:prstGeom prst="rect">
            <a:avLst/>
          </a:prstGeom>
          <a:solidFill>
            <a:srgbClr val="BA0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0536" y="3136392"/>
            <a:ext cx="235915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Erreur utile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3529584"/>
            <a:ext cx="235915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Le toast affiche le vrai contrôle métier ou champ manquant.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41080" y="4370832"/>
            <a:ext cx="2743200" cy="1143000"/>
          </a:xfrm>
          <a:prstGeom prst="roundRect">
            <a:avLst/>
          </a:prstGeom>
          <a:solidFill>
            <a:srgbClr val="E9F8F0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641080" y="4370832"/>
            <a:ext cx="73152" cy="1143000"/>
          </a:xfrm>
          <a:prstGeom prst="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0536" y="4535424"/>
            <a:ext cx="235915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Responsive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0536" y="4928616"/>
            <a:ext cx="235915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Le tableau devient une liste lisible sur les petits écrans.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AUTOMATISATION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Des règles inspirées de Revenue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554480"/>
            <a:ext cx="4617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554480"/>
            <a:ext cx="73152" cy="841248"/>
          </a:xfrm>
          <a:prstGeom prst="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2336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Fréquence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112264"/>
            <a:ext cx="4233672" cy="1463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Ponctuelle · Mensuelle · Trimestrielle · Semestrielle · Annuelle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87752"/>
            <a:ext cx="4617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587752"/>
            <a:ext cx="73152" cy="841248"/>
          </a:xfrm>
          <a:prstGeom prst="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752344"/>
            <a:ext cx="42336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145536"/>
            <a:ext cx="4233672" cy="1463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À échoir ou à terme échu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621024"/>
            <a:ext cx="4617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621024"/>
            <a:ext cx="73152" cy="841248"/>
          </a:xfrm>
          <a:prstGeom prst="rect">
            <a:avLst/>
          </a:prstGeom>
          <a:solidFill>
            <a:srgbClr val="B85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785615"/>
            <a:ext cx="42336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Frontière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178808"/>
            <a:ext cx="4233672" cy="1463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Période civile ou date anniversaire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654296"/>
            <a:ext cx="4617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4654296"/>
            <a:ext cx="73152" cy="841248"/>
          </a:xfrm>
          <a:prstGeom prst="rect">
            <a:avLst/>
          </a:prstGeom>
          <a:solidFill>
            <a:srgbClr val="6F4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818888"/>
            <a:ext cx="42336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Paiement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212080"/>
            <a:ext cx="4233672" cy="1463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Jour de facturation et délai configurable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1600200"/>
            <a:ext cx="52120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32D60"/>
                </a:solidFill>
                <a:latin typeface="Aptos"/>
              </a:rPr>
              <a:t>Exemple — mensuelle à terme échu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2898648"/>
            <a:ext cx="4709160" cy="4572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89320" y="2660904"/>
            <a:ext cx="493776" cy="493776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24728" y="3310128"/>
            <a:ext cx="82296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32D60"/>
                </a:solidFill>
                <a:latin typeface="Aptos"/>
              </a:rPr>
              <a:t>1 juin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3675887"/>
            <a:ext cx="114300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Début période</a:t>
            </a:r>
          </a:p>
        </p:txBody>
      </p:sp>
      <p:sp>
        <p:nvSpPr>
          <p:cNvPr id="27" name="Oval 26"/>
          <p:cNvSpPr/>
          <p:nvPr/>
        </p:nvSpPr>
        <p:spPr>
          <a:xfrm>
            <a:off x="7562088" y="2660904"/>
            <a:ext cx="493776" cy="493776"/>
          </a:xfrm>
          <a:prstGeom prst="ellipse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97496" y="3310128"/>
            <a:ext cx="82296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32D60"/>
                </a:solidFill>
                <a:latin typeface="Aptos"/>
              </a:rPr>
              <a:t>30 juin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3675887"/>
            <a:ext cx="114300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Fin prestation</a:t>
            </a:r>
          </a:p>
        </p:txBody>
      </p:sp>
      <p:sp>
        <p:nvSpPr>
          <p:cNvPr id="30" name="Oval 29"/>
          <p:cNvSpPr/>
          <p:nvPr/>
        </p:nvSpPr>
        <p:spPr>
          <a:xfrm>
            <a:off x="9134856" y="2660904"/>
            <a:ext cx="493776" cy="493776"/>
          </a:xfrm>
          <a:prstGeom prst="ellipse">
            <a:avLst/>
          </a:prstGeom>
          <a:solidFill>
            <a:srgbClr val="B85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70264" y="3310128"/>
            <a:ext cx="82296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32D60"/>
                </a:solidFill>
                <a:latin typeface="Aptos"/>
              </a:rPr>
              <a:t>1 juillet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675887"/>
            <a:ext cx="114300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Facture générée</a:t>
            </a:r>
          </a:p>
        </p:txBody>
      </p:sp>
      <p:sp>
        <p:nvSpPr>
          <p:cNvPr id="33" name="Oval 32"/>
          <p:cNvSpPr/>
          <p:nvPr/>
        </p:nvSpPr>
        <p:spPr>
          <a:xfrm>
            <a:off x="10707624" y="2660904"/>
            <a:ext cx="493776" cy="493776"/>
          </a:xfrm>
          <a:prstGeom prst="ellipse">
            <a:avLst/>
          </a:prstGeom>
          <a:solidFill>
            <a:srgbClr val="6F4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43032" y="3310128"/>
            <a:ext cx="82296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32D60"/>
                </a:solidFill>
                <a:latin typeface="Aptos"/>
              </a:rPr>
              <a:t>1 août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96728" y="3675887"/>
            <a:ext cx="114300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Prochaine date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97880" y="4681728"/>
            <a:ext cx="5303520" cy="804672"/>
          </a:xfrm>
          <a:prstGeom prst="roundRect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2" y="4937760"/>
            <a:ext cx="468172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E844A"/>
                </a:solidFill>
                <a:latin typeface="Aptos"/>
              </a:rPr>
              <a:t>Clé unique opportunité + échéance = protection anti-doublon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CONFORMITÉ MÉTIER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Une facture stable, une correction traçable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72768"/>
            <a:ext cx="21031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5CAB"/>
                </a:solidFill>
                <a:latin typeface="Aptos"/>
              </a:rPr>
              <a:t>FACTURE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2011680"/>
            <a:ext cx="411480" cy="411480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12264"/>
            <a:ext cx="411480" cy="1463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993392"/>
            <a:ext cx="20116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32D60"/>
                </a:solidFill>
                <a:latin typeface="Aptos"/>
              </a:rPr>
              <a:t>Snapshot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2322576"/>
            <a:ext cx="32004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Adresse et identité figées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34640"/>
            <a:ext cx="411480" cy="411480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935224"/>
            <a:ext cx="411480" cy="1463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816352"/>
            <a:ext cx="20116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32D60"/>
                </a:solidFill>
                <a:latin typeface="Aptos"/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145536"/>
            <a:ext cx="32004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Mentions et lignes contrôlées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657600"/>
            <a:ext cx="411480" cy="411480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758184"/>
            <a:ext cx="411480" cy="1463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3639312"/>
            <a:ext cx="20116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32D60"/>
                </a:solidFill>
                <a:latin typeface="Aptos"/>
              </a:rPr>
              <a:t>Numérotation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968496"/>
            <a:ext cx="32004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Attribuée uniquement à l’émission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4480560"/>
            <a:ext cx="411480" cy="411480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581144"/>
            <a:ext cx="411480" cy="1463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462272"/>
            <a:ext cx="20116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32D60"/>
                </a:solidFill>
                <a:latin typeface="Aptos"/>
              </a:rPr>
              <a:t>Verrouillage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791456"/>
            <a:ext cx="32004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Document comptable immuable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1600200"/>
            <a:ext cx="45720" cy="425196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572768"/>
            <a:ext cx="21031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F4EB5"/>
                </a:solidFill>
                <a:latin typeface="Aptos"/>
              </a:rPr>
              <a:t>AVOIR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2103120"/>
            <a:ext cx="2057400" cy="777240"/>
          </a:xfrm>
          <a:prstGeom prst="roundRect">
            <a:avLst/>
          </a:prstGeom>
          <a:solidFill>
            <a:srgbClr val="03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2340863"/>
            <a:ext cx="16916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Facture émise</a:t>
            </a:r>
          </a:p>
        </p:txBody>
      </p:sp>
      <p:sp>
        <p:nvSpPr>
          <p:cNvPr id="27" name="Chevron 26"/>
          <p:cNvSpPr/>
          <p:nvPr/>
        </p:nvSpPr>
        <p:spPr>
          <a:xfrm>
            <a:off x="8257032" y="2295144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0" y="2103120"/>
            <a:ext cx="2057400" cy="777240"/>
          </a:xfrm>
          <a:prstGeom prst="roundRect">
            <a:avLst/>
          </a:prstGeom>
          <a:solidFill>
            <a:srgbClr val="6F4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2340863"/>
            <a:ext cx="16916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Avoir brouillon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3429000"/>
            <a:ext cx="2057400" cy="777240"/>
          </a:xfrm>
          <a:prstGeom prst="roundRect">
            <a:avLst/>
          </a:prstGeom>
          <a:solidFill>
            <a:srgbClr val="B85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666744"/>
            <a:ext cx="16916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Contrôle du restant</a:t>
            </a:r>
          </a:p>
        </p:txBody>
      </p:sp>
      <p:sp>
        <p:nvSpPr>
          <p:cNvPr id="32" name="Chevron 31"/>
          <p:cNvSpPr/>
          <p:nvPr/>
        </p:nvSpPr>
        <p:spPr>
          <a:xfrm>
            <a:off x="8257032" y="3621024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86800" y="3429000"/>
            <a:ext cx="2057400" cy="777240"/>
          </a:xfrm>
          <a:prstGeom prst="round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0" y="3666744"/>
            <a:ext cx="16916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Émission AV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80760" y="4864608"/>
            <a:ext cx="4663440" cy="713232"/>
          </a:xfrm>
          <a:prstGeom prst="roundRect">
            <a:avLst/>
          </a:prstGeom>
          <a:solidFill>
            <a:srgbClr val="F3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5102352"/>
            <a:ext cx="41148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6F4EB5"/>
                </a:solidFill>
                <a:latin typeface="Aptos"/>
              </a:rPr>
              <a:t>Solde et statut de la facture recalculés automatiquement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DOCUMENT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Un PDF professionnel et personnalisable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81328"/>
            <a:ext cx="461772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719072"/>
            <a:ext cx="4160520" cy="73152"/>
          </a:xfrm>
          <a:prstGeom prst="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93392"/>
            <a:ext cx="14173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VOTRE LOGO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60" y="1938528"/>
            <a:ext cx="1234440" cy="731520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13632" y="2157984"/>
            <a:ext cx="987552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FACTURE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944368"/>
            <a:ext cx="1874519" cy="749808"/>
          </a:xfrm>
          <a:prstGeom prst="round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127248"/>
            <a:ext cx="150876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32D60"/>
                </a:solidFill>
                <a:latin typeface="Aptos"/>
              </a:rPr>
              <a:t>FACTURÉ À
Client Exemple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18688" y="2944368"/>
            <a:ext cx="1810512" cy="749808"/>
          </a:xfrm>
          <a:prstGeom prst="round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3127248"/>
            <a:ext cx="150876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032D60"/>
                </a:solidFill>
                <a:latin typeface="Aptos"/>
              </a:rPr>
              <a:t>DATE  •  ÉCHÉANCE
N° FAC-2026-00012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977639"/>
            <a:ext cx="3886200" cy="36576"/>
          </a:xfrm>
          <a:prstGeom prst="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4325112"/>
            <a:ext cx="388620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672583"/>
            <a:ext cx="388620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020056"/>
            <a:ext cx="388620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56432" y="5394960"/>
            <a:ext cx="1572768" cy="384048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75304" y="5513832"/>
            <a:ext cx="1335024" cy="1463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TOTAL TTC   2 400 €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645920"/>
            <a:ext cx="2395728" cy="1481328"/>
          </a:xfrm>
          <a:prstGeom prst="roundRect">
            <a:avLst/>
          </a:prstGeom>
          <a:solidFill>
            <a:srgbClr val="EA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82880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5CAB"/>
                </a:solidFill>
                <a:latin typeface="Aptos"/>
              </a:rPr>
              <a:t>Logo Salesforce Files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313432"/>
            <a:ext cx="20116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5C6673"/>
                </a:solidFill>
                <a:latin typeface="Aptos"/>
              </a:rPr>
              <a:t>Une identité par entité juridique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1645920"/>
            <a:ext cx="2395728" cy="1481328"/>
          </a:xfrm>
          <a:prstGeom prst="roundRect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182880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827C"/>
                </a:solidFill>
                <a:latin typeface="Aptos"/>
              </a:rPr>
              <a:t>Couleur #RRGGBB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313432"/>
            <a:ext cx="20116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5C6673"/>
                </a:solidFill>
                <a:latin typeface="Aptos"/>
              </a:rPr>
              <a:t>Déclinée sur titres, tableau et totaux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3611880"/>
            <a:ext cx="2395728" cy="1481328"/>
          </a:xfrm>
          <a:prstGeom prst="round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79476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85D00"/>
                </a:solidFill>
                <a:latin typeface="Aptos"/>
              </a:rPr>
              <a:t>Mentions françaises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279392"/>
            <a:ext cx="20116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5C6673"/>
                </a:solidFill>
                <a:latin typeface="Aptos"/>
              </a:rPr>
              <a:t>SIREN, SIRET, TVA, pénalités, paiement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32520" y="3611880"/>
            <a:ext cx="2395728" cy="1481328"/>
          </a:xfrm>
          <a:prstGeom prst="roundRect">
            <a:avLst/>
          </a:prstGeom>
          <a:solidFill>
            <a:srgbClr val="F3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5400" y="379476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F4EB5"/>
                </a:solidFill>
                <a:latin typeface="Aptos"/>
              </a:rPr>
              <a:t>Versionnement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4279392"/>
            <a:ext cx="20116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5C6673"/>
                </a:solidFill>
                <a:latin typeface="Aptos"/>
              </a:rPr>
              <a:t>Chaque régénération conserve l’historique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80760" y="5532120"/>
            <a:ext cx="1051560" cy="347472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5573268"/>
            <a:ext cx="996695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FACTURE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96912" y="5532120"/>
            <a:ext cx="1051560" cy="347472"/>
          </a:xfrm>
          <a:prstGeom prst="roundRect">
            <a:avLst/>
          </a:prstGeom>
          <a:solidFill>
            <a:srgbClr val="6F4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4344" y="5573268"/>
            <a:ext cx="996695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AVOIR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5577840"/>
            <a:ext cx="251460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673"/>
                </a:solidFill>
                <a:latin typeface="Aptos"/>
              </a:rPr>
              <a:t>Deux mises en page adaptées au document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CHORUS PRO &amp; PLATEFORME AGRÉÉE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Facturation électronique : prête à raccorder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103120" cy="960120"/>
          </a:xfrm>
          <a:prstGeom prst="roundRect">
            <a:avLst/>
          </a:prstGeom>
          <a:solidFill>
            <a:srgbClr val="03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14600"/>
            <a:ext cx="1572768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FACTURE ÉMISE</a:t>
            </a:r>
          </a:p>
        </p:txBody>
      </p:sp>
      <p:sp>
        <p:nvSpPr>
          <p:cNvPr id="8" name="Chevron 7"/>
          <p:cNvSpPr/>
          <p:nvPr/>
        </p:nvSpPr>
        <p:spPr>
          <a:xfrm>
            <a:off x="3182112" y="2432304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22191" y="2148840"/>
            <a:ext cx="2377440" cy="960120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87952" y="2359152"/>
            <a:ext cx="164592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PRÉPARER
LA E-FACTURE</a:t>
            </a:r>
          </a:p>
        </p:txBody>
      </p:sp>
      <p:sp>
        <p:nvSpPr>
          <p:cNvPr id="11" name="Chevron 10"/>
          <p:cNvSpPr/>
          <p:nvPr/>
        </p:nvSpPr>
        <p:spPr>
          <a:xfrm>
            <a:off x="6419088" y="2432304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59168" y="1536192"/>
            <a:ext cx="2029968" cy="1051560"/>
          </a:xfrm>
          <a:prstGeom prst="round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10512"/>
            <a:ext cx="151790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CLIENT PUBLIC
Chorus Pro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9168" y="2889504"/>
            <a:ext cx="2029968" cy="1051560"/>
          </a:xfrm>
          <a:prstGeom prst="roundRect">
            <a:avLst/>
          </a:prstGeom>
          <a:solidFill>
            <a:srgbClr val="6F4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3154680"/>
            <a:ext cx="160934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CLIENT PRIVÉ
Plateforme Agréée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64040" y="2148840"/>
            <a:ext cx="1874519" cy="960120"/>
          </a:xfrm>
          <a:prstGeom prst="roundRect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01784" y="2377440"/>
            <a:ext cx="1389888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E844A"/>
                </a:solidFill>
                <a:latin typeface="Aptos"/>
              </a:rPr>
              <a:t>TRANSMISSION
TRAÇABLE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17720"/>
            <a:ext cx="25146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844A"/>
                </a:solidFill>
                <a:latin typeface="Aptos"/>
              </a:rPr>
              <a:t>1er SEPTEMBRE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4937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Réception pour tous · émission grandes entreprises et ETI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617720"/>
            <a:ext cx="25146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85D00"/>
                </a:solidFill>
                <a:latin typeface="Aptos"/>
              </a:rPr>
              <a:t>1er SEPTEMBRE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029200"/>
            <a:ext cx="47091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Émission obligatoire pour les PME et micro-entreprises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VUE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Une architecture simple à faire évoluer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517904"/>
            <a:ext cx="10058400" cy="685800"/>
          </a:xfrm>
          <a:prstGeom prst="roundRect">
            <a:avLst/>
          </a:prstGeom>
          <a:solidFill>
            <a:srgbClr val="EA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88720" y="1682495"/>
            <a:ext cx="1572768" cy="347472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1723643"/>
            <a:ext cx="1517904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EXPÉRIENCE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719072"/>
            <a:ext cx="69494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7202E"/>
                </a:solidFill>
                <a:latin typeface="Aptos"/>
              </a:rPr>
              <a:t>billingWorkspace · brandingConfigurator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97864" y="2432304"/>
            <a:ext cx="9582912" cy="685800"/>
          </a:xfrm>
          <a:prstGeom prst="roundRect">
            <a:avLst/>
          </a:prstGeom>
          <a:solidFill>
            <a:srgbClr val="F3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26464" y="2596896"/>
            <a:ext cx="1572768" cy="347472"/>
          </a:xfrm>
          <a:prstGeom prst="roundRect">
            <a:avLst/>
          </a:prstGeom>
          <a:solidFill>
            <a:srgbClr val="6F4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53896" y="2638044"/>
            <a:ext cx="1517904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FAÇADE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4408" y="2633472"/>
            <a:ext cx="6583679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7202E"/>
                </a:solidFill>
                <a:latin typeface="Aptos"/>
              </a:rPr>
              <a:t>BillingWorkspaceController · BillingSecurity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35608" y="3346704"/>
            <a:ext cx="9107424" cy="685800"/>
          </a:xfrm>
          <a:prstGeom prst="roundRect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64208" y="3511296"/>
            <a:ext cx="1572768" cy="347472"/>
          </a:xfrm>
          <a:prstGeom prst="round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552444"/>
            <a:ext cx="1517904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MÉTIER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3547872"/>
            <a:ext cx="62179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7202E"/>
                </a:solidFill>
                <a:latin typeface="Aptos"/>
              </a:rPr>
              <a:t>InvoiceService · Validation · Calcul · Numérotation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73352" y="4261104"/>
            <a:ext cx="8631936" cy="685800"/>
          </a:xfrm>
          <a:prstGeom prst="round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01952" y="4425696"/>
            <a:ext cx="1572768" cy="347472"/>
          </a:xfrm>
          <a:prstGeom prst="roundRect">
            <a:avLst/>
          </a:prstGeom>
          <a:solidFill>
            <a:srgbClr val="B85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9384" y="4466844"/>
            <a:ext cx="1517904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AUTOMATISATION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66744" y="4462272"/>
            <a:ext cx="5852159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7202E"/>
                </a:solidFill>
                <a:latin typeface="Aptos"/>
              </a:rPr>
              <a:t>Scheduler · Batch · Règles · Idempotence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11095" y="5175504"/>
            <a:ext cx="8156448" cy="685800"/>
          </a:xfrm>
          <a:prstGeom prst="round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139696" y="5340096"/>
            <a:ext cx="1572768" cy="347472"/>
          </a:xfrm>
          <a:prstGeom prst="roundRect">
            <a:avLst/>
          </a:prstGeom>
          <a:solidFill>
            <a:srgbClr val="03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7" y="5381244"/>
            <a:ext cx="1517904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ptos"/>
              </a:rPr>
              <a:t>DONNÉES &amp; DOCUMENTS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2" y="5376672"/>
            <a:ext cx="54864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7202E"/>
                </a:solidFill>
                <a:latin typeface="Aptos"/>
              </a:rPr>
              <a:t>Invoice · Lines · Payments · Files · Transmissions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PREUVES DE LIVRAISON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Qualité, sécurité et exploitation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664208"/>
            <a:ext cx="2148840" cy="2148840"/>
          </a:xfrm>
          <a:prstGeom prst="ellipse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12848"/>
            <a:ext cx="169164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2E844A"/>
                </a:solidFill>
                <a:latin typeface="Aptos"/>
              </a:rPr>
              <a:t>83 %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1508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844A"/>
                </a:solidFill>
                <a:latin typeface="Aptos"/>
              </a:rPr>
              <a:t>couverture projet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737360"/>
            <a:ext cx="2057400" cy="1170432"/>
          </a:xfrm>
          <a:prstGeom prst="roundRect">
            <a:avLst/>
          </a:prstGeom>
          <a:solidFill>
            <a:srgbClr val="EA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892807"/>
            <a:ext cx="1728216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B5CAB"/>
                </a:solidFill>
                <a:latin typeface="Aptos"/>
              </a:rPr>
              <a:t>100 %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50591"/>
            <a:ext cx="172821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673"/>
                </a:solidFill>
                <a:latin typeface="Aptos"/>
              </a:rPr>
              <a:t>TESTS RÉUSSIS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737360"/>
            <a:ext cx="2057400" cy="1170432"/>
          </a:xfrm>
          <a:prstGeom prst="roundRect">
            <a:avLst/>
          </a:prstGeom>
          <a:solidFill>
            <a:srgbClr val="F3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1892807"/>
            <a:ext cx="1728216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6F4EB5"/>
                </a:solidFill>
                <a:latin typeface="Aptos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3872" y="2450591"/>
            <a:ext cx="172821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673"/>
                </a:solidFill>
                <a:latin typeface="Aptos"/>
              </a:rPr>
              <a:t>MÉTHODES DE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737360"/>
            <a:ext cx="2057400" cy="1170432"/>
          </a:xfrm>
          <a:prstGeom prst="roundRect">
            <a:avLst/>
          </a:prstGeom>
          <a:solidFill>
            <a:srgbClr val="E9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1583" y="1892807"/>
            <a:ext cx="1728216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E844A"/>
                </a:solidFill>
                <a:latin typeface="Apto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1583" y="2450591"/>
            <a:ext cx="1728216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673"/>
                </a:solidFill>
                <a:latin typeface="Aptos"/>
              </a:rPr>
              <a:t>ÉCHEC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251960"/>
            <a:ext cx="32004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4251960"/>
            <a:ext cx="73152" cy="1280160"/>
          </a:xfrm>
          <a:prstGeom prst="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416552"/>
            <a:ext cx="281635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Sécurité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4809744"/>
            <a:ext cx="2816352" cy="585215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Partage Salesforce, contrôles CRUD/FLS et Permission Set dédié.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4251960"/>
            <a:ext cx="32004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52544" y="4251960"/>
            <a:ext cx="73152" cy="1280160"/>
          </a:xfrm>
          <a:prstGeom prst="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416552"/>
            <a:ext cx="281635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Résilience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809744"/>
            <a:ext cx="2816352" cy="585215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Transactions, verrouillage, anti-doublon et erreurs isolées par opportunité.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36408" y="4251960"/>
            <a:ext cx="32004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36408" y="4251960"/>
            <a:ext cx="73152" cy="1280160"/>
          </a:xfrm>
          <a:prstGeom prst="rect">
            <a:avLst/>
          </a:prstGeom>
          <a:solidFill>
            <a:srgbClr val="B85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55864" y="4416552"/>
            <a:ext cx="281635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32D60"/>
                </a:solidFill>
                <a:latin typeface="Aptos"/>
              </a:rPr>
              <a:t>Supervision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55864" y="4809744"/>
            <a:ext cx="2816352" cy="585215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673"/>
                </a:solidFill>
                <a:latin typeface="Aptos"/>
              </a:rPr>
              <a:t>Scheduler vérifiable, erreurs de batch et transmissions historisées.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5806440"/>
            <a:ext cx="3840480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C6673"/>
                </a:solidFill>
                <a:latin typeface="Aptos"/>
              </a:rPr>
              <a:t>Run Salesforce : 707KB000027XkfR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DÉPLOIEMENT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Une livraison traçable par GitHub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1737360" cy="1143000"/>
          </a:xfrm>
          <a:prstGeom prst="roundRect">
            <a:avLst/>
          </a:prstGeom>
          <a:solidFill>
            <a:srgbClr val="03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67712"/>
            <a:ext cx="14630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14630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Aptos"/>
              </a:rPr>
              <a:t>Version source</a:t>
            </a:r>
          </a:p>
        </p:txBody>
      </p:sp>
      <p:sp>
        <p:nvSpPr>
          <p:cNvPr id="9" name="Chevron 8"/>
          <p:cNvSpPr/>
          <p:nvPr/>
        </p:nvSpPr>
        <p:spPr>
          <a:xfrm>
            <a:off x="2532888" y="2340864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1965960"/>
            <a:ext cx="1737360" cy="1143000"/>
          </a:xfrm>
          <a:prstGeom prst="roundRect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0672" y="2267712"/>
            <a:ext cx="14630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670048"/>
            <a:ext cx="14630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Aptos"/>
              </a:rPr>
              <a:t>Sans écriture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0600" y="2340864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21224" y="1965960"/>
            <a:ext cx="1737360" cy="1143000"/>
          </a:xfrm>
          <a:prstGeom prst="roundRect">
            <a:avLst/>
          </a:prstGeom>
          <a:solidFill>
            <a:srgbClr val="6F4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8384" y="2267712"/>
            <a:ext cx="14630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8384" y="2670048"/>
            <a:ext cx="14630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Aptos"/>
              </a:rPr>
              <a:t>Run spécifié</a:t>
            </a:r>
          </a:p>
        </p:txBody>
      </p:sp>
      <p:sp>
        <p:nvSpPr>
          <p:cNvPr id="17" name="Chevron 16"/>
          <p:cNvSpPr/>
          <p:nvPr/>
        </p:nvSpPr>
        <p:spPr>
          <a:xfrm>
            <a:off x="7068312" y="2340864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88936" y="1965960"/>
            <a:ext cx="1737360" cy="1143000"/>
          </a:xfrm>
          <a:prstGeom prst="roundRect">
            <a:avLst/>
          </a:prstGeom>
          <a:solidFill>
            <a:srgbClr val="B85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6096" y="2267712"/>
            <a:ext cx="14630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APPROBATION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6096" y="2670048"/>
            <a:ext cx="14630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Aptos"/>
              </a:rPr>
              <a:t>Mot DEPLOY</a:t>
            </a:r>
          </a:p>
        </p:txBody>
      </p:sp>
      <p:sp>
        <p:nvSpPr>
          <p:cNvPr id="21" name="Chevron 20"/>
          <p:cNvSpPr/>
          <p:nvPr/>
        </p:nvSpPr>
        <p:spPr>
          <a:xfrm>
            <a:off x="9336024" y="2340864"/>
            <a:ext cx="384048" cy="384048"/>
          </a:xfrm>
          <a:prstGeom prst="chevron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756648" y="1965960"/>
            <a:ext cx="1737360" cy="1143000"/>
          </a:xfrm>
          <a:prstGeom prst="roundRect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93808" y="2267712"/>
            <a:ext cx="14630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ptos"/>
              </a:rPr>
              <a:t>SALESFORCE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2670048"/>
            <a:ext cx="14630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Aptos"/>
              </a:rPr>
              <a:t>Déploiement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20" y="3977639"/>
            <a:ext cx="9326880" cy="1234440"/>
          </a:xfrm>
          <a:prstGeom prst="round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61104"/>
            <a:ext cx="1554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C6673"/>
                </a:solidFill>
                <a:latin typeface="Aptos"/>
              </a:rPr>
              <a:t>Version livrée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4233672"/>
            <a:ext cx="19659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5CAB"/>
                </a:solidFill>
                <a:latin typeface="Aptos"/>
              </a:rPr>
              <a:t>Commit 1b184f4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04688" y="4251960"/>
            <a:ext cx="42062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5CAB"/>
                </a:solidFill>
                <a:latin typeface="Aptos"/>
                <a:hlinkClick r:id="rId2"/>
              </a:rPr>
              <a:t>github.com/Nounem/Facturation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4681728"/>
            <a:ext cx="4572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673"/>
                </a:solidFill>
                <a:latin typeface="Aptos"/>
              </a:rPr>
              <a:t>Déploiement Salesforce : 0AfKB00000DphNT0AZ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SCÉNARIO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Démonstration proposée — 7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783080"/>
            <a:ext cx="566928" cy="566928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47672"/>
            <a:ext cx="566928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0512" y="1755648"/>
            <a:ext cx="35661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32D60"/>
                </a:solidFill>
                <a:latin typeface="Aptos"/>
              </a:rPr>
              <a:t>Ouvrir l’opportunité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139696"/>
            <a:ext cx="36118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Compte + produits prêts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56248" y="1783080"/>
            <a:ext cx="566928" cy="566928"/>
          </a:xfrm>
          <a:prstGeom prst="ellipse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947672"/>
            <a:ext cx="566928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2" y="1755648"/>
            <a:ext cx="35661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32D60"/>
                </a:solidFill>
                <a:latin typeface="Aptos"/>
              </a:rPr>
              <a:t>Créer une facture directe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42632" y="2139696"/>
            <a:ext cx="36118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La ligne apparaît sans recharger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97180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" y="3200400"/>
            <a:ext cx="566928" cy="566928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364992"/>
            <a:ext cx="566928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3172968"/>
            <a:ext cx="35661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32D60"/>
                </a:solidFill>
                <a:latin typeface="Aptos"/>
              </a:rPr>
              <a:t>Émettre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3557016"/>
            <a:ext cx="36118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Contrôles, numéro et verrouillage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97180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56248" y="3200400"/>
            <a:ext cx="566928" cy="566928"/>
          </a:xfrm>
          <a:prstGeom prst="ellipse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3364992"/>
            <a:ext cx="566928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2632" y="3172968"/>
            <a:ext cx="35661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32D60"/>
                </a:solidFill>
                <a:latin typeface="Aptos"/>
              </a:rPr>
              <a:t>Générer le PDF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3557016"/>
            <a:ext cx="36118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Logo, couleur et fichier versionné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8912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4128" y="4617720"/>
            <a:ext cx="566928" cy="566928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4782312"/>
            <a:ext cx="566928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10512" y="4590288"/>
            <a:ext cx="35661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32D60"/>
                </a:solidFill>
                <a:latin typeface="Aptos"/>
              </a:rPr>
              <a:t>Créer un avoir partiel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0512" y="4974336"/>
            <a:ext cx="36118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Solde et statut recalculés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438912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56248" y="4617720"/>
            <a:ext cx="566928" cy="566928"/>
          </a:xfrm>
          <a:prstGeom prst="ellipse">
            <a:avLst/>
          </a:prstGeom>
          <a:solidFill>
            <a:srgbClr val="0B82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6248" y="4782312"/>
            <a:ext cx="566928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2" y="4590288"/>
            <a:ext cx="35661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32D60"/>
                </a:solidFill>
                <a:latin typeface="Aptos"/>
              </a:rPr>
              <a:t>Montrer la règle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2" y="4974336"/>
            <a:ext cx="361188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673"/>
                </a:solidFill>
                <a:latin typeface="Aptos"/>
              </a:rPr>
              <a:t>Prochaine échéance et anti-doublon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14600" y="5779008"/>
            <a:ext cx="7132320" cy="411480"/>
          </a:xfrm>
          <a:prstGeom prst="round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88920" y="5888736"/>
            <a:ext cx="658368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B85D00"/>
                </a:solidFill>
                <a:latin typeface="Aptos"/>
              </a:rPr>
              <a:t>Préparer les données en amont et ne pas dépendre d’un appel Chorus réel pendant la démo.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5CAB"/>
                </a:solidFill>
                <a:latin typeface="Aptos"/>
              </a:rPr>
              <a:t>PROCHAINES ÉTAPES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32D60"/>
                </a:solidFill>
                <a:latin typeface="Aptos"/>
              </a:rPr>
              <a:t>Le socle est livré, la suite est maîtrisée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71016"/>
            <a:ext cx="658368" cy="41148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65760"/>
            <a:ext cx="502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C6673"/>
                </a:solidFill>
                <a:latin typeface="Apto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600200"/>
            <a:ext cx="2011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844A"/>
                </a:solidFill>
                <a:latin typeface="Aptos"/>
              </a:rPr>
              <a:t>COURT TERME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4754880" cy="2377440"/>
          </a:xfrm>
          <a:prstGeom prst="rect">
            <a:avLst/>
          </a:prstGeom>
          <a:noFill/>
        </p:spPr>
        <p:txBody>
          <a:bodyPr wrap="square" lIns="45720" rIns="27432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Renseigner les vraies mentions juridiques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Recette avec la comptabilité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Valider le logo et le modèle PDF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Finaliser le raccordement PISTE / 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4768" y="1600200"/>
            <a:ext cx="2011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F4EB5"/>
                </a:solidFill>
                <a:latin typeface="Aptos"/>
              </a:rPr>
              <a:t>ÉVOLUTIONS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4768" y="2057400"/>
            <a:ext cx="4754880" cy="2377440"/>
          </a:xfrm>
          <a:prstGeom prst="rect">
            <a:avLst/>
          </a:prstGeom>
          <a:noFill/>
        </p:spPr>
        <p:txBody>
          <a:bodyPr wrap="square" lIns="45720" rIns="27432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Contrats et échéanciers par ligne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Relances et prélèvements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Allocation multi-paiements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500">
                <a:solidFill>
                  <a:srgbClr val="17202E"/>
                </a:solidFill>
                <a:latin typeface="Aptos"/>
              </a:defRPr>
            </a:pPr>
            <a:r>
              <a:t>•  Portail client et suivi du règlement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846320"/>
            <a:ext cx="9418320" cy="868680"/>
          </a:xfrm>
          <a:prstGeom prst="roundRect">
            <a:avLst/>
          </a:prstGeom>
          <a:solidFill>
            <a:srgbClr val="03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55648" y="5129784"/>
            <a:ext cx="8641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ptos"/>
              </a:rPr>
              <a:t>Un système simple aujourd’hui, extensible demain vers un modèle Revenue Cloud.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28816"/>
            <a:ext cx="5029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FACTURATION SALESFORCE  •  JUILLET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28816"/>
            <a:ext cx="24688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5C6673"/>
                </a:solidFill>
                <a:latin typeface="Aptos"/>
              </a:rPr>
              <a:t>NOUNEM / FACTURATION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D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508760"/>
            <a:ext cx="530352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Aptos"/>
              </a:rPr>
              <a:t>Merci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514600"/>
            <a:ext cx="3840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AF5FE"/>
                </a:solidFill>
                <a:latin typeface="Aptos"/>
              </a:rP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03320"/>
            <a:ext cx="612648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Aptos"/>
              </a:rPr>
              <a:t>Documentation technique, guide utilisateur et workflow
disponibles dans le dépôt GitHub.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828032"/>
            <a:ext cx="5029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96FF"/>
                </a:solidFill>
                <a:latin typeface="Aptos"/>
                <a:hlinkClick r:id="rId2"/>
              </a:rPr>
              <a:t>github.com/Nounem/Facturation</a:t>
            </a:r>
          </a:p>
        </p:txBody>
      </p:sp>
      <p:sp>
        <p:nvSpPr>
          <p:cNvPr id="7" name="Oval 6"/>
          <p:cNvSpPr/>
          <p:nvPr/>
        </p:nvSpPr>
        <p:spPr>
          <a:xfrm>
            <a:off x="8503920" y="1325880"/>
            <a:ext cx="2331720" cy="2331720"/>
          </a:xfrm>
          <a:prstGeom prst="ellipse">
            <a:avLst/>
          </a:prstGeom>
          <a:solidFill>
            <a:srgbClr val="0B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1938528"/>
            <a:ext cx="150876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Aptos"/>
              </a:rPr>
              <a:t>SF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4133087"/>
            <a:ext cx="1508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96FF"/>
                </a:solidFill>
                <a:latin typeface="Aptos"/>
              </a:rPr>
              <a:t>FACTURATION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Facturation Salesforce</dc:title>
  <dc:subject>Présentation fonctionnelle et technique</dc:subject>
  <dc:creator>Nounem</dc:creator>
  <cp:keywords>Salesforce, facturation, devis, avoir, PDF, Chorus Pro</cp:keywords>
  <dc:description>Généré depuis scripts/generate_presentation.py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