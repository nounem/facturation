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ounem/Facturation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ounem/Facturat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D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-274320"/>
            <a:ext cx="3657600" cy="1828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5303520"/>
            <a:ext cx="2834640" cy="1828800"/>
          </a:xfrm>
          <a:prstGeom prst="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2423160" cy="347472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99516"/>
            <a:ext cx="236829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APPLICATION NATIVE SALESFORCE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713232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ptos"/>
              </a:rPr>
              <a:t>Facturation
Salesforce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27248"/>
            <a:ext cx="65836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ptos"/>
              </a:rPr>
              <a:t>Du devis à la facture électronique, avec facture directe,
récurrence, avoirs et PDF personnalisable.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AF5FE"/>
                </a:solidFill>
                <a:latin typeface="Aptos"/>
              </a:rPr>
              <a:t>Démonstration fonctionnelle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50992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AF5FE"/>
                </a:solidFill>
                <a:latin typeface="Aptos"/>
              </a:rPr>
              <a:t>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VUE D’ENSEMBLE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Un socle complet, sans quitter Salesforce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560320" cy="1170432"/>
          </a:xfrm>
          <a:prstGeom prst="roundRect">
            <a:avLst/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223113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5CAB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59152"/>
            <a:ext cx="223113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673"/>
                </a:solidFill>
                <a:latin typeface="Aptos"/>
              </a:rPr>
              <a:t>PARCOURS DE CRÉATION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1170432"/>
          </a:xfrm>
          <a:prstGeom prst="roundRect">
            <a:avLst/>
          </a:prstGeom>
          <a:solidFill>
            <a:srgbClr val="F3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01368"/>
            <a:ext cx="223113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6F4EB5"/>
                </a:solidFill>
                <a:latin typeface="Aptos"/>
              </a:rPr>
              <a:t>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59152"/>
            <a:ext cx="223113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673"/>
                </a:solidFill>
                <a:latin typeface="Aptos"/>
              </a:rPr>
              <a:t>AVOIRS COMPLETS &amp; PARTIELS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2560320" cy="1170432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801368"/>
            <a:ext cx="223113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B85D00"/>
                </a:solidFill>
                <a:latin typeface="Aptos"/>
              </a:rPr>
              <a:t>02:00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59152"/>
            <a:ext cx="223113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673"/>
                </a:solidFill>
                <a:latin typeface="Aptos"/>
              </a:rPr>
              <a:t>FACTURATION QUOTIDIENNE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645920"/>
            <a:ext cx="2560320" cy="1170432"/>
          </a:xfrm>
          <a:prstGeom prst="roundRect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801368"/>
            <a:ext cx="223113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E844A"/>
                </a:solidFill>
                <a:latin typeface="Aptos"/>
              </a:rPr>
              <a:t>83 %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359152"/>
            <a:ext cx="223113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673"/>
                </a:solidFill>
                <a:latin typeface="Aptos"/>
              </a:rPr>
              <a:t>COUVERTURE DU PROJET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73152" cy="2240280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410712"/>
            <a:ext cx="30449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Expérience fluide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803904"/>
            <a:ext cx="3044952" cy="1545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Création, recherche et actions contextualisées avec rafraîchissement immédiat et messages d’erreur exploitables.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2461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246120"/>
            <a:ext cx="73152" cy="2240280"/>
          </a:xfrm>
          <a:prstGeom prst="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410712"/>
            <a:ext cx="30449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Documents maîtrisés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803904"/>
            <a:ext cx="3044952" cy="1545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Numérotation à l’émission, verrouillage, PDF versionné, logo et identité visuelle par entité juridique.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2461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3246120"/>
            <a:ext cx="73152" cy="2240280"/>
          </a:xfrm>
          <a:prstGeom prst="rect">
            <a:avLst/>
          </a:prstGeom>
          <a:solidFill>
            <a:srgbClr val="B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3410712"/>
            <a:ext cx="30449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Prêt à évoluer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3803904"/>
            <a:ext cx="3044952" cy="1545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Règles inspirées de Revenue Cloud et préparation des flux Chorus Pro / Plateforme Agréée.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POURQUOI CE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Le problème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54864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32D60"/>
                </a:solidFill>
                <a:latin typeface="Aptos"/>
              </a:rPr>
              <a:t>Les équipes perdent du temps lorsque la vente et la facturation vivent dans des outils séparés.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78608"/>
            <a:ext cx="5303520" cy="2926080"/>
          </a:xfrm>
          <a:prstGeom prst="rect">
            <a:avLst/>
          </a:prstGeom>
          <a:noFill/>
        </p:spPr>
        <p:txBody>
          <a:bodyPr wrap="square" lIns="45720" rIns="27432" t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Ressaisies de prix, TVA et adresses client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Parcours avec ou sans devis difficiles à unifier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Récurrence fragile et risque de doublons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Corrections comptables non traçables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PDF et e-facture soumis à des règles légales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645920"/>
            <a:ext cx="4983480" cy="4251960"/>
          </a:xfrm>
          <a:prstGeom prst="round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2057400"/>
            <a:ext cx="1463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96FF"/>
                </a:solidFill>
                <a:latin typeface="Aptos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606040"/>
            <a:ext cx="411480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ptos"/>
              </a:rPr>
              <a:t>Un parcours simple
pour l’utilisateur,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931920"/>
            <a:ext cx="3977639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EAF5FE"/>
                </a:solidFill>
                <a:latin typeface="Aptos"/>
              </a:rPr>
              <a:t>contrôlé pour la comptabilité
et évolutif pour l’entreprise.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Une réponse native et configurable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664208"/>
          </a:xfrm>
          <a:prstGeom prst="roundRect">
            <a:avLst/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856232"/>
            <a:ext cx="438912" cy="438912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38528"/>
            <a:ext cx="4389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84708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Devis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304288"/>
            <a:ext cx="233172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Quote standard Salesforce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3429000" cy="1664208"/>
          </a:xfrm>
          <a:prstGeom prst="roundRect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45736" y="1856232"/>
            <a:ext cx="438912" cy="438912"/>
          </a:xfrm>
          <a:prstGeom prst="ellipse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1938528"/>
            <a:ext cx="4389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84708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Facture directe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304288"/>
            <a:ext cx="233172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Sans devis obligatoire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00200"/>
            <a:ext cx="3429000" cy="1664208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0496" y="1856232"/>
            <a:ext cx="438912" cy="438912"/>
          </a:xfrm>
          <a:prstGeom prst="ellipse">
            <a:avLst/>
          </a:prstGeom>
          <a:solidFill>
            <a:srgbClr val="B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1938528"/>
            <a:ext cx="4389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1847088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Récurrence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304288"/>
            <a:ext cx="233172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Règles et périodes configurables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3429000" cy="1664208"/>
          </a:xfrm>
          <a:prstGeom prst="roundRect">
            <a:avLst/>
          </a:prstGeom>
          <a:solidFill>
            <a:srgbClr val="F3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0976" y="3913632"/>
            <a:ext cx="438912" cy="438912"/>
          </a:xfrm>
          <a:prstGeom prst="ellipse">
            <a:avLst/>
          </a:prstGeom>
          <a:solidFill>
            <a:srgbClr val="6F4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995928"/>
            <a:ext cx="4389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3904487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Avoir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361688"/>
            <a:ext cx="233172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Complet ou partiel, document dédié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657600"/>
            <a:ext cx="3429000" cy="1664208"/>
          </a:xfrm>
          <a:prstGeom prst="roundRect">
            <a:avLst/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45736" y="3913632"/>
            <a:ext cx="438912" cy="438912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5736" y="3995928"/>
            <a:ext cx="4389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3904487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2" y="4361688"/>
            <a:ext cx="233172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Logo, couleur, mentions, versions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657600"/>
            <a:ext cx="3429000" cy="1664208"/>
          </a:xfrm>
          <a:prstGeom prst="roundRect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40496" y="3913632"/>
            <a:ext cx="438912" cy="438912"/>
          </a:xfrm>
          <a:prstGeom prst="ellipse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0496" y="3995928"/>
            <a:ext cx="43891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3904487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E-facture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4361688"/>
            <a:ext cx="233172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Préparation et traçabilité du flux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PARCOURS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Trois chemins, un même cycle comptable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82296" cy="82296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82495"/>
            <a:ext cx="21488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2D60"/>
                </a:solidFill>
                <a:latin typeface="Aptos"/>
              </a:rPr>
              <a:t>Devis accepté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011680"/>
            <a:ext cx="21488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Quote</a:t>
            </a:r>
          </a:p>
        </p:txBody>
      </p:sp>
      <p:sp>
        <p:nvSpPr>
          <p:cNvPr id="10" name="Chevron 9"/>
          <p:cNvSpPr/>
          <p:nvPr/>
        </p:nvSpPr>
        <p:spPr>
          <a:xfrm>
            <a:off x="3703320" y="1773936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82296" cy="822960"/>
          </a:xfrm>
          <a:prstGeom prst="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916936"/>
            <a:ext cx="21488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2D60"/>
                </a:solidFill>
                <a:latin typeface="Aptos"/>
              </a:rPr>
              <a:t>Facture directe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246120"/>
            <a:ext cx="21488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Produits opportunité</a:t>
            </a:r>
          </a:p>
        </p:txBody>
      </p:sp>
      <p:sp>
        <p:nvSpPr>
          <p:cNvPr id="15" name="Chevron 14"/>
          <p:cNvSpPr/>
          <p:nvPr/>
        </p:nvSpPr>
        <p:spPr>
          <a:xfrm>
            <a:off x="3703320" y="3008376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82296" cy="822960"/>
          </a:xfrm>
          <a:prstGeom prst="rect">
            <a:avLst/>
          </a:prstGeom>
          <a:solidFill>
            <a:srgbClr val="B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151376"/>
            <a:ext cx="21488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2D60"/>
                </a:solidFill>
                <a:latin typeface="Aptos"/>
              </a:rPr>
              <a:t>Facture planifiée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480560"/>
            <a:ext cx="21488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Règle + prochaine date</a:t>
            </a:r>
          </a:p>
        </p:txBody>
      </p:sp>
      <p:sp>
        <p:nvSpPr>
          <p:cNvPr id="20" name="Chevron 19"/>
          <p:cNvSpPr/>
          <p:nvPr/>
        </p:nvSpPr>
        <p:spPr>
          <a:xfrm>
            <a:off x="3703320" y="4242816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07408" y="2423160"/>
            <a:ext cx="2331720" cy="1143000"/>
          </a:xfrm>
          <a:prstGeom prst="round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2660904"/>
            <a:ext cx="178308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FACTURE
BROUILLON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71231" y="2423160"/>
            <a:ext cx="1600200" cy="1143000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816352"/>
            <a:ext cx="120700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ÉMISSION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9345168" y="2788920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48672" y="2423160"/>
            <a:ext cx="1508760" cy="1143000"/>
          </a:xfrm>
          <a:prstGeom prst="round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2816352"/>
            <a:ext cx="914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4736592"/>
            <a:ext cx="7040880" cy="822960"/>
          </a:xfrm>
          <a:prstGeom prst="roundRect">
            <a:avLst/>
          </a:prstGeom>
          <a:solidFill>
            <a:srgbClr val="F3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5010912"/>
            <a:ext cx="64922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00" b="1">
                <a:solidFill>
                  <a:srgbClr val="6F4EB5"/>
                </a:solidFill>
                <a:latin typeface="Aptos"/>
              </a:rPr>
              <a:t>Facture émise  </a:t>
            </a:r>
            <a:r>
              <a:rPr sz="1400" b="0">
                <a:solidFill>
                  <a:srgbClr val="17202E"/>
                </a:solidFill>
                <a:latin typeface="Aptos"/>
              </a:rPr>
              <a:t>→  Avoir brouillon  →  Émission AV  →  PDF d’avoir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LIGHTNING WEB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Une expérience intégrée à l’opportunité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7589520" cy="4480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589520" cy="8229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3383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Devis, factures &amp; avoirs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737360"/>
            <a:ext cx="1097280" cy="347472"/>
          </a:xfrm>
          <a:prstGeom prst="round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778507"/>
            <a:ext cx="1042415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Facture directe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4848" y="1737360"/>
            <a:ext cx="1078992" cy="347472"/>
          </a:xfrm>
          <a:prstGeom prst="round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778507"/>
            <a:ext cx="1024127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Nouveau devis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2578608"/>
            <a:ext cx="1481328" cy="841248"/>
          </a:xfrm>
          <a:prstGeom prst="roundRect">
            <a:avLst/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724912"/>
            <a:ext cx="12252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3063240"/>
            <a:ext cx="1225296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673"/>
                </a:solidFill>
                <a:latin typeface="Aptos"/>
              </a:rPr>
              <a:t>Devis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0048" y="2578608"/>
            <a:ext cx="1481328" cy="841248"/>
          </a:xfrm>
          <a:prstGeom prst="roundRect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8064" y="2724912"/>
            <a:ext cx="12252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3063240"/>
            <a:ext cx="1225296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673"/>
                </a:solidFill>
                <a:latin typeface="Aptos"/>
              </a:rPr>
              <a:t>Acceptés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2578608"/>
            <a:ext cx="1481328" cy="841248"/>
          </a:xfrm>
          <a:prstGeom prst="roundRect">
            <a:avLst/>
          </a:prstGeom>
          <a:solidFill>
            <a:srgbClr val="F3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2724912"/>
            <a:ext cx="12252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3063240"/>
            <a:ext cx="1225296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673"/>
                </a:solidFill>
                <a:latin typeface="Aptos"/>
              </a:rPr>
              <a:t>Factures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7" y="2578608"/>
            <a:ext cx="1481328" cy="841248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724912"/>
            <a:ext cx="12252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32D60"/>
                </a:solidFill>
                <a:latin typeface="Aptos"/>
              </a:rPr>
              <a:t>8 640 €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3063240"/>
            <a:ext cx="1225296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673"/>
                </a:solidFill>
                <a:latin typeface="Aptos"/>
              </a:rPr>
              <a:t>Solde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703320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B5CAB"/>
                </a:solidFill>
                <a:latin typeface="Aptos"/>
              </a:rPr>
              <a:t>FACTURES &amp; AVOIRS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995928"/>
            <a:ext cx="7196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078224"/>
            <a:ext cx="1828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FAC-2026-00012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9232" y="4078224"/>
            <a:ext cx="1965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Émise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078224"/>
            <a:ext cx="10515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7202E"/>
                </a:solidFill>
                <a:latin typeface="Aptos"/>
              </a:rPr>
              <a:t>2 400 €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65392" y="4032504"/>
            <a:ext cx="960120" cy="347472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4073652"/>
            <a:ext cx="90525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4599432"/>
            <a:ext cx="1828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AV-2026-00003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4599432"/>
            <a:ext cx="1965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Partiellement créditée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4599432"/>
            <a:ext cx="10515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7202E"/>
                </a:solidFill>
                <a:latin typeface="Aptos"/>
              </a:rPr>
              <a:t>480 €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5392" y="4553712"/>
            <a:ext cx="960120" cy="347472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2824" y="4594860"/>
            <a:ext cx="90525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Ouvrir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5038344"/>
            <a:ext cx="719632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120640"/>
            <a:ext cx="1828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FAC-2026-00011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5120640"/>
            <a:ext cx="19659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Payée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792" y="5120640"/>
            <a:ext cx="10515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7202E"/>
                </a:solidFill>
                <a:latin typeface="Aptos"/>
              </a:rPr>
              <a:t>5 760 €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65392" y="5074920"/>
            <a:ext cx="960120" cy="347472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92824" y="5116068"/>
            <a:ext cx="90525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PDF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1572768"/>
            <a:ext cx="2743200" cy="1143000"/>
          </a:xfrm>
          <a:prstGeom prst="roundRect">
            <a:avLst/>
          </a:prstGeom>
          <a:solidFill>
            <a:srgbClr val="EAF5FE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41080" y="1572768"/>
            <a:ext cx="73152" cy="1143000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0536" y="1737360"/>
            <a:ext cx="23591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Sans rechargement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0536" y="2130552"/>
            <a:ext cx="2359152" cy="4480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Les listes et compteurs se mettent à jour après chaque action.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1080" y="297180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41080" y="2971800"/>
            <a:ext cx="73152" cy="1143000"/>
          </a:xfrm>
          <a:prstGeom prst="rect">
            <a:avLst/>
          </a:prstGeom>
          <a:solidFill>
            <a:srgbClr val="BA0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0536" y="3136392"/>
            <a:ext cx="23591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Erreur utile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0536" y="3529584"/>
            <a:ext cx="2359152" cy="4480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Le toast affiche le vrai contrôle métier ou champ manquant.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4370832"/>
            <a:ext cx="2743200" cy="114300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641080" y="4370832"/>
            <a:ext cx="73152" cy="1143000"/>
          </a:xfrm>
          <a:prstGeom prst="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0536" y="4535424"/>
            <a:ext cx="23591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Responsive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0536" y="4928616"/>
            <a:ext cx="2359152" cy="4480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Le tableau devient une liste lisible sur les petits écrans.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AUTOMATISATION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Des règles inspirées de Revenue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54480"/>
            <a:ext cx="4617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554480"/>
            <a:ext cx="73152" cy="841248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19072"/>
            <a:ext cx="42336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Fréquence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12264"/>
            <a:ext cx="4233672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Ponctuelle · Mensuelle · Trimestrielle · Semestrielle · Annuelle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87752"/>
            <a:ext cx="4617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587752"/>
            <a:ext cx="73152" cy="841248"/>
          </a:xfrm>
          <a:prstGeom prst="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752344"/>
            <a:ext cx="42336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45536"/>
            <a:ext cx="4233672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À échoir ou à terme échu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21024"/>
            <a:ext cx="4617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621024"/>
            <a:ext cx="73152" cy="841248"/>
          </a:xfrm>
          <a:prstGeom prst="rect">
            <a:avLst/>
          </a:prstGeom>
          <a:solidFill>
            <a:srgbClr val="B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785615"/>
            <a:ext cx="42336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Frontière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178808"/>
            <a:ext cx="4233672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Période civile ou date anniversaire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654296"/>
            <a:ext cx="4617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4654296"/>
            <a:ext cx="73152" cy="841248"/>
          </a:xfrm>
          <a:prstGeom prst="rect">
            <a:avLst/>
          </a:prstGeom>
          <a:solidFill>
            <a:srgbClr val="6F4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818888"/>
            <a:ext cx="42336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Paiement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212080"/>
            <a:ext cx="4233672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Jour de facturation et délai configurable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600200"/>
            <a:ext cx="52120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32D60"/>
                </a:solidFill>
                <a:latin typeface="Aptos"/>
              </a:rPr>
              <a:t>Exemple — mensuelle à terme échu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898648"/>
            <a:ext cx="4709160" cy="4572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9320" y="2660904"/>
            <a:ext cx="493776" cy="493776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24728" y="3310128"/>
            <a:ext cx="8229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32D60"/>
                </a:solidFill>
                <a:latin typeface="Aptos"/>
              </a:rPr>
              <a:t>1 juin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3675887"/>
            <a:ext cx="11430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Début période</a:t>
            </a:r>
          </a:p>
        </p:txBody>
      </p:sp>
      <p:sp>
        <p:nvSpPr>
          <p:cNvPr id="27" name="Oval 26"/>
          <p:cNvSpPr/>
          <p:nvPr/>
        </p:nvSpPr>
        <p:spPr>
          <a:xfrm>
            <a:off x="7562088" y="2660904"/>
            <a:ext cx="493776" cy="493776"/>
          </a:xfrm>
          <a:prstGeom prst="ellipse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97496" y="3310128"/>
            <a:ext cx="8229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32D60"/>
                </a:solidFill>
                <a:latin typeface="Aptos"/>
              </a:rPr>
              <a:t>30 juin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3675887"/>
            <a:ext cx="11430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Fin prestation</a:t>
            </a:r>
          </a:p>
        </p:txBody>
      </p:sp>
      <p:sp>
        <p:nvSpPr>
          <p:cNvPr id="30" name="Oval 29"/>
          <p:cNvSpPr/>
          <p:nvPr/>
        </p:nvSpPr>
        <p:spPr>
          <a:xfrm>
            <a:off x="9134856" y="2660904"/>
            <a:ext cx="493776" cy="493776"/>
          </a:xfrm>
          <a:prstGeom prst="ellipse">
            <a:avLst/>
          </a:prstGeom>
          <a:solidFill>
            <a:srgbClr val="B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70264" y="3310128"/>
            <a:ext cx="8229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32D60"/>
                </a:solidFill>
                <a:latin typeface="Aptos"/>
              </a:rPr>
              <a:t>1 juillet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675887"/>
            <a:ext cx="11430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Facture générée</a:t>
            </a:r>
          </a:p>
        </p:txBody>
      </p:sp>
      <p:sp>
        <p:nvSpPr>
          <p:cNvPr id="33" name="Oval 32"/>
          <p:cNvSpPr/>
          <p:nvPr/>
        </p:nvSpPr>
        <p:spPr>
          <a:xfrm>
            <a:off x="10707624" y="2660904"/>
            <a:ext cx="493776" cy="493776"/>
          </a:xfrm>
          <a:prstGeom prst="ellipse">
            <a:avLst/>
          </a:prstGeom>
          <a:solidFill>
            <a:srgbClr val="6F4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43032" y="3310128"/>
            <a:ext cx="8229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32D60"/>
                </a:solidFill>
                <a:latin typeface="Aptos"/>
              </a:rPr>
              <a:t>1 août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6728" y="3675887"/>
            <a:ext cx="11430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Prochaine 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4681728"/>
            <a:ext cx="5303520" cy="804672"/>
          </a:xfrm>
          <a:prstGeom prst="roundRect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4937760"/>
            <a:ext cx="46817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E844A"/>
                </a:solidFill>
                <a:latin typeface="Aptos"/>
              </a:rPr>
              <a:t>Clé unique opportunité + échéance = protection anti-doublon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CONFORMITÉ MÉTIER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Une facture stable, une correction traçable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CAB"/>
                </a:solidFill>
                <a:latin typeface="Aptos"/>
              </a:rPr>
              <a:t>FACTURE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011680"/>
            <a:ext cx="411480" cy="411480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12264"/>
            <a:ext cx="41148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93392"/>
            <a:ext cx="20116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32D60"/>
                </a:solidFill>
                <a:latin typeface="Aptos"/>
              </a:rPr>
              <a:t>Snapshot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22576"/>
            <a:ext cx="3200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Adresse et identité figées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34640"/>
            <a:ext cx="411480" cy="411480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935224"/>
            <a:ext cx="41148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816352"/>
            <a:ext cx="20116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32D60"/>
                </a:solidFill>
                <a:latin typeface="Apto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145536"/>
            <a:ext cx="3200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Mentions et lignes contrôlées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57600"/>
            <a:ext cx="411480" cy="411480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758184"/>
            <a:ext cx="41148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639312"/>
            <a:ext cx="20116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32D60"/>
                </a:solidFill>
                <a:latin typeface="Aptos"/>
              </a:rPr>
              <a:t>Numérotation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968496"/>
            <a:ext cx="3200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Attribuée uniquement à l’émission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80560"/>
            <a:ext cx="411480" cy="411480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581144"/>
            <a:ext cx="41148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462272"/>
            <a:ext cx="20116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32D60"/>
                </a:solidFill>
                <a:latin typeface="Aptos"/>
              </a:rPr>
              <a:t>Verrouillage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791456"/>
            <a:ext cx="3200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Document comptable immuable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1600200"/>
            <a:ext cx="45720" cy="425196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572768"/>
            <a:ext cx="21031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F4EB5"/>
                </a:solidFill>
                <a:latin typeface="Aptos"/>
              </a:rPr>
              <a:t>AVOIR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2103120"/>
            <a:ext cx="2057400" cy="777240"/>
          </a:xfrm>
          <a:prstGeom prst="round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40863"/>
            <a:ext cx="1691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Facture émise</a:t>
            </a:r>
          </a:p>
        </p:txBody>
      </p:sp>
      <p:sp>
        <p:nvSpPr>
          <p:cNvPr id="27" name="Chevron 26"/>
          <p:cNvSpPr/>
          <p:nvPr/>
        </p:nvSpPr>
        <p:spPr>
          <a:xfrm>
            <a:off x="8257032" y="2295144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0" y="2103120"/>
            <a:ext cx="2057400" cy="777240"/>
          </a:xfrm>
          <a:prstGeom prst="roundRect">
            <a:avLst/>
          </a:prstGeom>
          <a:solidFill>
            <a:srgbClr val="6F4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340863"/>
            <a:ext cx="1691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Avoir brouillon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3429000"/>
            <a:ext cx="2057400" cy="777240"/>
          </a:xfrm>
          <a:prstGeom prst="roundRect">
            <a:avLst/>
          </a:prstGeom>
          <a:solidFill>
            <a:srgbClr val="B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666744"/>
            <a:ext cx="1691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Contrôle du restant</a:t>
            </a:r>
          </a:p>
        </p:txBody>
      </p:sp>
      <p:sp>
        <p:nvSpPr>
          <p:cNvPr id="32" name="Chevron 31"/>
          <p:cNvSpPr/>
          <p:nvPr/>
        </p:nvSpPr>
        <p:spPr>
          <a:xfrm>
            <a:off x="8257032" y="3621024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0" y="3429000"/>
            <a:ext cx="2057400" cy="777240"/>
          </a:xfrm>
          <a:prstGeom prst="round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3666744"/>
            <a:ext cx="1691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Émission AV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4864608"/>
            <a:ext cx="4663440" cy="713232"/>
          </a:xfrm>
          <a:prstGeom prst="roundRect">
            <a:avLst/>
          </a:prstGeom>
          <a:solidFill>
            <a:srgbClr val="F3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102352"/>
            <a:ext cx="4114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F4EB5"/>
                </a:solidFill>
                <a:latin typeface="Aptos"/>
              </a:rPr>
              <a:t>Solde et statut de la facture recalculés automatiquement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DOCUMENT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Un PDF professionnel et personnalisable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81328"/>
            <a:ext cx="46177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719072"/>
            <a:ext cx="4160520" cy="73152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93392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VOTRE LOGO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938528"/>
            <a:ext cx="1234440" cy="731520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2157984"/>
            <a:ext cx="987552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FACTURE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944368"/>
            <a:ext cx="1874519" cy="749808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127248"/>
            <a:ext cx="1508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32D60"/>
                </a:solidFill>
                <a:latin typeface="Aptos"/>
              </a:rPr>
              <a:t>FACTURÉ À
Client Exemple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8688" y="2944368"/>
            <a:ext cx="1810512" cy="749808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3127248"/>
            <a:ext cx="1508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32D60"/>
                </a:solidFill>
                <a:latin typeface="Aptos"/>
              </a:rPr>
              <a:t>DATE  •  ÉCHÉANCE
N° FAC-2026-00012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3977639"/>
            <a:ext cx="3886200" cy="36576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4325112"/>
            <a:ext cx="388620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672583"/>
            <a:ext cx="388620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5020056"/>
            <a:ext cx="388620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56432" y="5394960"/>
            <a:ext cx="1572768" cy="384048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5513832"/>
            <a:ext cx="1335024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TOTAL TTC   2 400 €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645920"/>
            <a:ext cx="2395728" cy="1481328"/>
          </a:xfrm>
          <a:prstGeom prst="roundRect">
            <a:avLst/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82880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CAB"/>
                </a:solidFill>
                <a:latin typeface="Aptos"/>
              </a:rPr>
              <a:t>Logo Salesforce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13432"/>
            <a:ext cx="20116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C6673"/>
                </a:solidFill>
                <a:latin typeface="Aptos"/>
              </a:rPr>
              <a:t>Une identité par entité juridique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645920"/>
            <a:ext cx="2395728" cy="1481328"/>
          </a:xfrm>
          <a:prstGeom prst="roundRect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82880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827C"/>
                </a:solidFill>
                <a:latin typeface="Aptos"/>
              </a:rPr>
              <a:t>Couleur #RRGGBB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313432"/>
            <a:ext cx="20116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C6673"/>
                </a:solidFill>
                <a:latin typeface="Aptos"/>
              </a:rPr>
              <a:t>Déclinée sur titres, tableau et totaux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611880"/>
            <a:ext cx="2395728" cy="1481328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79476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85D00"/>
                </a:solidFill>
                <a:latin typeface="Aptos"/>
              </a:rPr>
              <a:t>Mentions françaises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279392"/>
            <a:ext cx="20116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C6673"/>
                </a:solidFill>
                <a:latin typeface="Aptos"/>
              </a:rPr>
              <a:t>SIREN, SIRET, TVA, pénalités, paiement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3611880"/>
            <a:ext cx="2395728" cy="1481328"/>
          </a:xfrm>
          <a:prstGeom prst="roundRect">
            <a:avLst/>
          </a:prstGeom>
          <a:solidFill>
            <a:srgbClr val="F3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379476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F4EB5"/>
                </a:solidFill>
                <a:latin typeface="Aptos"/>
              </a:rPr>
              <a:t>Versionnement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4279392"/>
            <a:ext cx="20116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C6673"/>
                </a:solidFill>
                <a:latin typeface="Aptos"/>
              </a:rPr>
              <a:t>Chaque régénération conserve l’historique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5532120"/>
            <a:ext cx="1051560" cy="347472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5573268"/>
            <a:ext cx="996695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FACTURE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6912" y="5532120"/>
            <a:ext cx="1051560" cy="347472"/>
          </a:xfrm>
          <a:prstGeom prst="roundRect">
            <a:avLst/>
          </a:prstGeom>
          <a:solidFill>
            <a:srgbClr val="6F4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24344" y="5573268"/>
            <a:ext cx="996695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AVOIR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5577840"/>
            <a:ext cx="25146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673"/>
                </a:solidFill>
                <a:latin typeface="Aptos"/>
              </a:rPr>
              <a:t>Deux mises en page adaptées au document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CHORUS PRO &amp; PLATEFORME AGRÉÉE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Facturation électronique : prête à raccorder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103120" cy="960120"/>
          </a:xfrm>
          <a:prstGeom prst="round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514600"/>
            <a:ext cx="15727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FACTURE ÉMISE</a:t>
            </a:r>
          </a:p>
        </p:txBody>
      </p:sp>
      <p:sp>
        <p:nvSpPr>
          <p:cNvPr id="8" name="Chevron 7"/>
          <p:cNvSpPr/>
          <p:nvPr/>
        </p:nvSpPr>
        <p:spPr>
          <a:xfrm>
            <a:off x="3182112" y="2432304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22191" y="2148840"/>
            <a:ext cx="2377440" cy="960120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7952" y="2359152"/>
            <a:ext cx="16459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PRÉPARER
LA E-FACTURE</a:t>
            </a:r>
          </a:p>
        </p:txBody>
      </p:sp>
      <p:sp>
        <p:nvSpPr>
          <p:cNvPr id="11" name="Chevron 10"/>
          <p:cNvSpPr/>
          <p:nvPr/>
        </p:nvSpPr>
        <p:spPr>
          <a:xfrm>
            <a:off x="6419088" y="2432304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59168" y="1536192"/>
            <a:ext cx="2029968" cy="1051560"/>
          </a:xfrm>
          <a:prstGeom prst="round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810512"/>
            <a:ext cx="1517904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CLIENT PUBLIC
Chorus Pro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9168" y="2889504"/>
            <a:ext cx="2029968" cy="1051560"/>
          </a:xfrm>
          <a:prstGeom prst="roundRect">
            <a:avLst/>
          </a:prstGeom>
          <a:solidFill>
            <a:srgbClr val="6F4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154680"/>
            <a:ext cx="1609344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CLIENT PRIVÉ
Plateforme Agréée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2148840"/>
            <a:ext cx="1874519" cy="960120"/>
          </a:xfrm>
          <a:prstGeom prst="roundRect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01784" y="2377440"/>
            <a:ext cx="1389888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E844A"/>
                </a:solidFill>
                <a:latin typeface="Aptos"/>
              </a:rPr>
              <a:t>TRANSMISSION
TRAÇABLE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2514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844A"/>
                </a:solidFill>
                <a:latin typeface="Aptos"/>
              </a:rPr>
              <a:t>1er SEPTEMBRE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4937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Réception pour tous · émission grandes entreprises et ETI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2514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85D00"/>
                </a:solidFill>
                <a:latin typeface="Aptos"/>
              </a:rPr>
              <a:t>1er SEPTEMBRE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29200"/>
            <a:ext cx="4709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Émission obligatoire pour les PME et micro-entreprises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VUE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Une architecture simple à faire évoluer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517904"/>
            <a:ext cx="10058400" cy="685800"/>
          </a:xfrm>
          <a:prstGeom prst="roundRect">
            <a:avLst/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1682495"/>
            <a:ext cx="1572768" cy="347472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723643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EXPÉRIENCE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719072"/>
            <a:ext cx="69494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E"/>
                </a:solidFill>
                <a:latin typeface="Aptos"/>
              </a:rPr>
              <a:t>billingWorkspace · brandingConfigurator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7864" y="2432304"/>
            <a:ext cx="9582912" cy="685800"/>
          </a:xfrm>
          <a:prstGeom prst="roundRect">
            <a:avLst/>
          </a:prstGeom>
          <a:solidFill>
            <a:srgbClr val="F3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6464" y="2596896"/>
            <a:ext cx="1572768" cy="347472"/>
          </a:xfrm>
          <a:prstGeom prst="roundRect">
            <a:avLst/>
          </a:prstGeom>
          <a:solidFill>
            <a:srgbClr val="6F4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6" y="2638044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FAÇADE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633472"/>
            <a:ext cx="658367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E"/>
                </a:solidFill>
                <a:latin typeface="Aptos"/>
              </a:rPr>
              <a:t>BillingWorkspaceController · BillingSecurity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35608" y="3346704"/>
            <a:ext cx="9107424" cy="685800"/>
          </a:xfrm>
          <a:prstGeom prst="roundRect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64208" y="3511296"/>
            <a:ext cx="1572768" cy="347472"/>
          </a:xfrm>
          <a:prstGeom prst="round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552444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MÉTIER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3547872"/>
            <a:ext cx="6217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E"/>
                </a:solidFill>
                <a:latin typeface="Aptos"/>
              </a:rPr>
              <a:t>InvoiceService · Validation · Calcul · Numérotation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3352" y="4261104"/>
            <a:ext cx="8631936" cy="6858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01952" y="4425696"/>
            <a:ext cx="1572768" cy="347472"/>
          </a:xfrm>
          <a:prstGeom prst="roundRect">
            <a:avLst/>
          </a:prstGeom>
          <a:solidFill>
            <a:srgbClr val="B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9384" y="4466844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AUTOMATISATION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4462272"/>
            <a:ext cx="5852159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E"/>
                </a:solidFill>
                <a:latin typeface="Aptos"/>
              </a:rPr>
              <a:t>Scheduler · Batch · Règles · Idempotence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11095" y="5175504"/>
            <a:ext cx="8156448" cy="68580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39696" y="5340096"/>
            <a:ext cx="1572768" cy="347472"/>
          </a:xfrm>
          <a:prstGeom prst="round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5381244"/>
            <a:ext cx="151790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DONNÉES &amp; 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7912" y="5376672"/>
            <a:ext cx="5486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E"/>
                </a:solidFill>
                <a:latin typeface="Aptos"/>
              </a:rPr>
              <a:t>Invoice · Lines · Payments · Files · Transmissions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PREUVES DE LIVRAISON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Qualité, sécurité et exploitation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664208"/>
            <a:ext cx="2148840" cy="2148840"/>
          </a:xfrm>
          <a:prstGeom prst="ellipse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12848"/>
            <a:ext cx="169164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E844A"/>
                </a:solidFill>
                <a:latin typeface="Aptos"/>
              </a:rPr>
              <a:t>83 %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1508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844A"/>
                </a:solidFill>
                <a:latin typeface="Aptos"/>
              </a:rPr>
              <a:t>couverture projet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737360"/>
            <a:ext cx="2057400" cy="1170432"/>
          </a:xfrm>
          <a:prstGeom prst="roundRect">
            <a:avLst/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92807"/>
            <a:ext cx="172821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5CAB"/>
                </a:solidFill>
                <a:latin typeface="Aptos"/>
              </a:rPr>
              <a:t>100 %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50591"/>
            <a:ext cx="17282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673"/>
                </a:solidFill>
                <a:latin typeface="Aptos"/>
              </a:rPr>
              <a:t>TESTS RÉUSSIS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737360"/>
            <a:ext cx="2057400" cy="1170432"/>
          </a:xfrm>
          <a:prstGeom prst="roundRect">
            <a:avLst/>
          </a:prstGeom>
          <a:solidFill>
            <a:srgbClr val="F3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1892807"/>
            <a:ext cx="172821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6F4EB5"/>
                </a:solidFill>
                <a:latin typeface="Aptos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450591"/>
            <a:ext cx="17282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673"/>
                </a:solidFill>
                <a:latin typeface="Aptos"/>
              </a:rPr>
              <a:t>MÉTHODES DE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1737360"/>
            <a:ext cx="2057400" cy="1170432"/>
          </a:xfrm>
          <a:prstGeom prst="roundRect">
            <a:avLst/>
          </a:prstGeom>
          <a:solidFill>
            <a:srgbClr val="E9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3" y="1892807"/>
            <a:ext cx="1728216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E844A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3" y="2450591"/>
            <a:ext cx="172821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673"/>
                </a:solidFill>
                <a:latin typeface="Aptos"/>
              </a:rPr>
              <a:t>ÉCHEC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251960"/>
            <a:ext cx="3200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251960"/>
            <a:ext cx="73152" cy="128016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4416552"/>
            <a:ext cx="28163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Sécurité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4809744"/>
            <a:ext cx="2816352" cy="5852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Partage Salesforce, contrôles CRUD/FLS et Permission Set dédié.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4251960"/>
            <a:ext cx="3200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52544" y="4251960"/>
            <a:ext cx="73152" cy="1280160"/>
          </a:xfrm>
          <a:prstGeom prst="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416552"/>
            <a:ext cx="28163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Résilience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09744"/>
            <a:ext cx="2816352" cy="5852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Transactions, verrouillage, anti-doublon et erreurs isolées par opportunité.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36408" y="4251960"/>
            <a:ext cx="3200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36408" y="4251960"/>
            <a:ext cx="73152" cy="1280160"/>
          </a:xfrm>
          <a:prstGeom prst="rect">
            <a:avLst/>
          </a:prstGeom>
          <a:solidFill>
            <a:srgbClr val="B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5864" y="4416552"/>
            <a:ext cx="281635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32D60"/>
                </a:solidFill>
                <a:latin typeface="Aptos"/>
              </a:rPr>
              <a:t>Supervision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4809744"/>
            <a:ext cx="2816352" cy="5852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6673"/>
                </a:solidFill>
                <a:latin typeface="Aptos"/>
              </a:rPr>
              <a:t>Scheduler vérifiable, erreurs de batch et transmissions historisées.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806440"/>
            <a:ext cx="384048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673"/>
                </a:solidFill>
                <a:latin typeface="Aptos"/>
              </a:rPr>
              <a:t>Run Salesforce : 707KB000027XkfR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DÉPLOIEMENT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Une livraison traçable par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737360" cy="1143000"/>
          </a:xfrm>
          <a:prstGeom prst="round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1463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Version source</a:t>
            </a:r>
          </a:p>
        </p:txBody>
      </p:sp>
      <p:sp>
        <p:nvSpPr>
          <p:cNvPr id="9" name="Chevron 8"/>
          <p:cNvSpPr/>
          <p:nvPr/>
        </p:nvSpPr>
        <p:spPr>
          <a:xfrm>
            <a:off x="2532888" y="2340864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53512" y="1965960"/>
            <a:ext cx="1737360" cy="1143000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267712"/>
            <a:ext cx="1463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670048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Sans écriture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0600" y="2340864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21224" y="1965960"/>
            <a:ext cx="1737360" cy="1143000"/>
          </a:xfrm>
          <a:prstGeom prst="roundRect">
            <a:avLst/>
          </a:prstGeom>
          <a:solidFill>
            <a:srgbClr val="6F4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2267712"/>
            <a:ext cx="1463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4" y="2670048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Run spécifié</a:t>
            </a:r>
          </a:p>
        </p:txBody>
      </p:sp>
      <p:sp>
        <p:nvSpPr>
          <p:cNvPr id="17" name="Chevron 16"/>
          <p:cNvSpPr/>
          <p:nvPr/>
        </p:nvSpPr>
        <p:spPr>
          <a:xfrm>
            <a:off x="7068312" y="2340864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88936" y="1965960"/>
            <a:ext cx="1737360" cy="1143000"/>
          </a:xfrm>
          <a:prstGeom prst="roundRect">
            <a:avLst/>
          </a:prstGeom>
          <a:solidFill>
            <a:srgbClr val="B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2267712"/>
            <a:ext cx="1463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APPROBATION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670048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Mot DEPLOY</a:t>
            </a:r>
          </a:p>
        </p:txBody>
      </p:sp>
      <p:sp>
        <p:nvSpPr>
          <p:cNvPr id="21" name="Chevron 20"/>
          <p:cNvSpPr/>
          <p:nvPr/>
        </p:nvSpPr>
        <p:spPr>
          <a:xfrm>
            <a:off x="9336024" y="2340864"/>
            <a:ext cx="384048" cy="384048"/>
          </a:xfrm>
          <a:prstGeom prst="chevron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56648" y="1965960"/>
            <a:ext cx="1737360" cy="1143000"/>
          </a:xfrm>
          <a:prstGeom prst="round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3808" y="2267712"/>
            <a:ext cx="1463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SALESFORCE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670048"/>
            <a:ext cx="1463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Déploiement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3977639"/>
            <a:ext cx="9326880" cy="12344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4261104"/>
            <a:ext cx="1554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C6673"/>
                </a:solidFill>
                <a:latin typeface="Aptos"/>
              </a:rPr>
              <a:t>Version livrée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4233672"/>
            <a:ext cx="19659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CAB"/>
                </a:solidFill>
                <a:latin typeface="Aptos"/>
              </a:rPr>
              <a:t>Commit 1b184f4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4251960"/>
            <a:ext cx="4206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CAB"/>
                </a:solidFill>
                <a:latin typeface="Aptos"/>
                <a:hlinkClick r:id="rId2"/>
              </a:rPr>
              <a:t>github.com/Nounem/Facturation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68172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673"/>
                </a:solidFill>
                <a:latin typeface="Aptos"/>
              </a:rPr>
              <a:t>Déploiement Salesforce : 0AfKB00000DphNT0AZ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SCÉNARIO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Démonstration proposée — 7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83080"/>
            <a:ext cx="566928" cy="566928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47672"/>
            <a:ext cx="566928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1755648"/>
            <a:ext cx="3566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2D60"/>
                </a:solidFill>
                <a:latin typeface="Aptos"/>
              </a:rPr>
              <a:t>Ouvrir l’opportunité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139696"/>
            <a:ext cx="36118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Compte + produits prêts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56248" y="1783080"/>
            <a:ext cx="566928" cy="566928"/>
          </a:xfrm>
          <a:prstGeom prst="ellipse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947672"/>
            <a:ext cx="566928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2" y="1755648"/>
            <a:ext cx="3566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2D60"/>
                </a:solidFill>
                <a:latin typeface="Aptos"/>
              </a:rPr>
              <a:t>Créer une facture directe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2" y="2139696"/>
            <a:ext cx="36118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La ligne apparaît sans recharger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7180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" y="3200400"/>
            <a:ext cx="566928" cy="566928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364992"/>
            <a:ext cx="566928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3172968"/>
            <a:ext cx="3566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2D60"/>
                </a:solidFill>
                <a:latin typeface="Aptos"/>
              </a:rPr>
              <a:t>Émettre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3557016"/>
            <a:ext cx="36118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Contrôles, numéro et verrouillage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97180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56248" y="3200400"/>
            <a:ext cx="566928" cy="566928"/>
          </a:xfrm>
          <a:prstGeom prst="ellipse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3364992"/>
            <a:ext cx="566928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2" y="3172968"/>
            <a:ext cx="3566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2D60"/>
                </a:solidFill>
                <a:latin typeface="Aptos"/>
              </a:rPr>
              <a:t>Générer le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2" y="3557016"/>
            <a:ext cx="36118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Logo, couleur et fichier versionné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38912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" y="4617720"/>
            <a:ext cx="566928" cy="566928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782312"/>
            <a:ext cx="566928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0512" y="4590288"/>
            <a:ext cx="3566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2D60"/>
                </a:solidFill>
                <a:latin typeface="Aptos"/>
              </a:rPr>
              <a:t>Créer un avoir partiel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10512" y="4974336"/>
            <a:ext cx="36118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Solde et statut recalculés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38912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56248" y="4617720"/>
            <a:ext cx="566928" cy="566928"/>
          </a:xfrm>
          <a:prstGeom prst="ellipse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4782312"/>
            <a:ext cx="566928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2" y="4590288"/>
            <a:ext cx="3566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2D60"/>
                </a:solidFill>
                <a:latin typeface="Aptos"/>
              </a:rPr>
              <a:t>Montrer la règle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2632" y="4974336"/>
            <a:ext cx="361188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3"/>
                </a:solidFill>
                <a:latin typeface="Aptos"/>
              </a:rPr>
              <a:t>Prochaine échéance et anti-doublon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4600" y="5779008"/>
            <a:ext cx="7132320" cy="41148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5888736"/>
            <a:ext cx="65836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B85D00"/>
                </a:solidFill>
                <a:latin typeface="Aptos"/>
              </a:rPr>
              <a:t>Préparer les données en amont et ne pas dépendre d’un appel Chorus réel pendant la démo.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5CAB"/>
                </a:solidFill>
                <a:latin typeface="Aptos"/>
              </a:rPr>
              <a:t>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32D60"/>
                </a:solidFill>
                <a:latin typeface="Aptos"/>
              </a:rPr>
              <a:t>Le socle est livré, la suite est maîtrisée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71016"/>
            <a:ext cx="658368" cy="41148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02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C6673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0020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44A"/>
                </a:solidFill>
                <a:latin typeface="Aptos"/>
              </a:rPr>
              <a:t>COURT TERME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4754880" cy="2377440"/>
          </a:xfrm>
          <a:prstGeom prst="rect">
            <a:avLst/>
          </a:prstGeom>
          <a:noFill/>
        </p:spPr>
        <p:txBody>
          <a:bodyPr wrap="square" lIns="45720" rIns="27432" t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Renseigner les vraies mentions juridiques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Recette avec la comptabilité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Valider le logo et le modèle PDF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Finaliser le raccordement PISTE / 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160020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F4EB5"/>
                </a:solidFill>
                <a:latin typeface="Aptos"/>
              </a:rPr>
              <a:t>ÉVOLUTIONS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2057400"/>
            <a:ext cx="4754880" cy="2377440"/>
          </a:xfrm>
          <a:prstGeom prst="rect">
            <a:avLst/>
          </a:prstGeom>
          <a:noFill/>
        </p:spPr>
        <p:txBody>
          <a:bodyPr wrap="square" lIns="45720" rIns="27432" t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Contrats et échéanciers par ligne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Relances et prélèvements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Allocation multi-paiements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17202E"/>
                </a:solidFill>
                <a:latin typeface="Aptos"/>
              </a:defRPr>
            </a:pPr>
            <a:r>
              <a:t>•  Portail client et suivi du règlement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846320"/>
            <a:ext cx="9418320" cy="868680"/>
          </a:xfrm>
          <a:prstGeom prst="round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5129784"/>
            <a:ext cx="8641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Un système simple aujourd’hui, extensible demain vers un modèle Revenue Cloud.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28816"/>
            <a:ext cx="5029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FACTURATION SALESFORCE  •  JUILLET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528816"/>
            <a:ext cx="24688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673"/>
                </a:solidFill>
                <a:latin typeface="Aptos"/>
              </a:rPr>
              <a:t>NOUNEM / FACTURATION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D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508760"/>
            <a:ext cx="530352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Aptos"/>
              </a:rP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3840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AF5FE"/>
                </a:solidFill>
                <a:latin typeface="Aptos"/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03320"/>
            <a:ext cx="6126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ptos"/>
              </a:rPr>
              <a:t>Documentation technique, guide utilisateur et workflow
disponibles dans le dépôt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28032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96FF"/>
                </a:solidFill>
                <a:latin typeface="Aptos"/>
                <a:hlinkClick r:id="rId2"/>
              </a:rPr>
              <a:t>github.com/Nounem/Facturation</a:t>
            </a:r>
          </a:p>
        </p:txBody>
      </p:sp>
      <p:sp>
        <p:nvSpPr>
          <p:cNvPr id="7" name="Oval 6"/>
          <p:cNvSpPr/>
          <p:nvPr/>
        </p:nvSpPr>
        <p:spPr>
          <a:xfrm>
            <a:off x="8503920" y="1325880"/>
            <a:ext cx="2331720" cy="2331720"/>
          </a:xfrm>
          <a:prstGeom prst="ellipse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938528"/>
            <a:ext cx="15087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ptos"/>
              </a:rPr>
              <a:t>SF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4133087"/>
            <a:ext cx="1508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96FF"/>
                </a:solidFill>
                <a:latin typeface="Aptos"/>
              </a:rPr>
              <a:t>FACTURATION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Facturation Salesforce</dc:title>
  <dc:subject>Présentation fonctionnelle et technique</dc:subject>
  <dc:creator>Nounem</dc:creator>
  <cp:keywords>Salesforce, facturation, devis, avoir, PDF, Chorus Pro</cp:keywords>
  <dc:description>Généré depuis scripts/generate_presentation.py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